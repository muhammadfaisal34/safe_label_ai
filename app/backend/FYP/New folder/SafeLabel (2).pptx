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7"/>
  </p:handoutMasterIdLst>
  <p:sldIdLst>
    <p:sldId id="261" r:id="rId3"/>
    <p:sldId id="278" r:id="rId5"/>
    <p:sldId id="282" r:id="rId6"/>
    <p:sldId id="274" r:id="rId7"/>
    <p:sldId id="269" r:id="rId8"/>
    <p:sldId id="271" r:id="rId9"/>
    <p:sldId id="287" r:id="rId10"/>
    <p:sldId id="288" r:id="rId11"/>
    <p:sldId id="289" r:id="rId12"/>
    <p:sldId id="290" r:id="rId13"/>
    <p:sldId id="291" r:id="rId14"/>
    <p:sldId id="284"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94598" autoAdjust="0"/>
  </p:normalViewPr>
  <p:slideViewPr>
    <p:cSldViewPr snapToGrid="0">
      <p:cViewPr varScale="1">
        <p:scale>
          <a:sx n="60" d="100"/>
          <a:sy n="60" d="100"/>
        </p:scale>
        <p:origin x="966" y="7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10B063-250C-429E-A8BF-7319391C6F55}"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5C975E-0997-4697-96EB-C63A933B5082}"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D04B44-9D7C-43FA-A7E8-5AF8C75640D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6EE081-2D8F-4867-9918-8A1AB114F67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time of Presentation</a:t>
            </a:r>
            <a:r>
              <a:rPr lang="en-US" baseline="0" dirty="0"/>
              <a:t> should not exceed  6 mints </a:t>
            </a:r>
            <a:endParaRPr lang="en-US" dirty="0"/>
          </a:p>
        </p:txBody>
      </p:sp>
      <p:sp>
        <p:nvSpPr>
          <p:cNvPr id="4" name="Slide Number Placeholder 3"/>
          <p:cNvSpPr>
            <a:spLocks noGrp="1"/>
          </p:cNvSpPr>
          <p:nvPr>
            <p:ph type="sldNum" sz="quarter" idx="10"/>
          </p:nvPr>
        </p:nvSpPr>
        <p:spPr/>
        <p:txBody>
          <a:bodyPr/>
          <a:lstStyle/>
          <a:p>
            <a:fld id="{346537E7-FA4B-4159-86BE-DD5AA3DBDA3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1B9DD4A-C94C-4E8F-A191-88A43E9F0B3F}"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40AD533-88B9-4E0F-AE72-957DBC5E04DD}" type="datetime1">
              <a:rPr lang="en-US" smtClean="0"/>
            </a:fld>
            <a:endParaRPr lang="en-US"/>
          </a:p>
        </p:txBody>
      </p:sp>
      <p:sp>
        <p:nvSpPr>
          <p:cNvPr id="8" name="Footer Placeholder 7"/>
          <p:cNvSpPr>
            <a:spLocks noGrp="1"/>
          </p:cNvSpPr>
          <p:nvPr>
            <p:ph type="ftr" sz="quarter" idx="11"/>
          </p:nvPr>
        </p:nvSpPr>
        <p:spPr/>
        <p:txBody>
          <a:bodyPr/>
          <a:lstStyle/>
          <a:p>
            <a:r>
              <a:rPr lang="en-US"/>
              <a:t>Department of Computer Science, FCS&amp;IT</a:t>
            </a:r>
            <a:endParaRPr lang="en-US"/>
          </a:p>
        </p:txBody>
      </p:sp>
      <p:sp>
        <p:nvSpPr>
          <p:cNvPr id="9" name="Slide Number Placeholder 8"/>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106B07E-CF47-4C3A-80FA-C2777D1ECED6}" type="datetime1">
              <a:rPr lang="en-US" smtClean="0"/>
            </a:fld>
            <a:endParaRPr lang="en-US"/>
          </a:p>
        </p:txBody>
      </p:sp>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0AD533-88B9-4E0F-AE72-957DBC5E04DD}" type="datetime1">
              <a:rPr lang="en-US" smtClean="0"/>
            </a:fld>
            <a:endParaRPr lang="en-US"/>
          </a:p>
        </p:txBody>
      </p:sp>
      <p:sp>
        <p:nvSpPr>
          <p:cNvPr id="3" name="Footer Placeholder 2"/>
          <p:cNvSpPr>
            <a:spLocks noGrp="1"/>
          </p:cNvSpPr>
          <p:nvPr>
            <p:ph type="ftr" sz="quarter" idx="11"/>
          </p:nvPr>
        </p:nvSpPr>
        <p:spPr/>
        <p:txBody>
          <a:bodyPr/>
          <a:lstStyle/>
          <a:p>
            <a:r>
              <a:rPr lang="en-US"/>
              <a:t>Department of Computer Science, FCS&amp;IT</a:t>
            </a:r>
            <a:endParaRPr lang="en-US"/>
          </a:p>
        </p:txBody>
      </p:sp>
      <p:sp>
        <p:nvSpPr>
          <p:cNvPr id="4" name="Slide Number Placeholder 3"/>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0AD533-88B9-4E0F-AE72-957DBC5E04DD}"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Department of Computer Science, FCS&amp;IT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EC05BC-9E72-426D-91BE-7A46001AA6A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1524360" y="417095"/>
            <a:ext cx="9143280" cy="193548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nchor="b"/>
          <a:lstStyle/>
          <a:p>
            <a:pPr algn="ctr"/>
            <a:r>
              <a:rPr lang="en-US" altLang="en-US" sz="4000" b="1"/>
              <a:t>SafeLabel AI</a:t>
            </a:r>
            <a:endParaRPr lang="en-US" altLang="en-US" sz="4000" b="1"/>
          </a:p>
          <a:p>
            <a:pPr algn="ctr"/>
            <a:r>
              <a:rPr lang="en-US" altLang="en-US" sz="1800" b="0"/>
              <a:t>Allergen Detection</a:t>
            </a:r>
            <a:r>
              <a:rPr sz="1800" b="0"/>
              <a:t>, </a:t>
            </a:r>
            <a:r>
              <a:rPr lang="en-US" altLang="en-US" sz="1800" b="0"/>
              <a:t>AI-based food-label/allergen detection system.</a:t>
            </a:r>
            <a:endParaRPr lang="en-US" altLang="en-US" sz="1800" b="0"/>
          </a:p>
          <a:p>
            <a:pPr algn="ctr"/>
            <a:r>
              <a:rPr lang="en-US" altLang="en-US" sz="1400" b="1">
                <a:solidFill>
                  <a:schemeClr val="accent1"/>
                </a:solidFill>
              </a:rPr>
              <a:t>AI | OCR | NLP | NER | Allergen Detection | Barcode Scanning | Multilingual Translation</a:t>
            </a:r>
            <a:endParaRPr lang="en-US" altLang="en-US" sz="1400" b="1">
              <a:solidFill>
                <a:schemeClr val="accent1"/>
              </a:solidFill>
            </a:endParaRPr>
          </a:p>
        </p:txBody>
      </p:sp>
      <p:graphicFrame>
        <p:nvGraphicFramePr>
          <p:cNvPr id="5" name="Table 6"/>
          <p:cNvGraphicFramePr>
            <a:graphicFrameLocks noGrp="1"/>
          </p:cNvGraphicFramePr>
          <p:nvPr/>
        </p:nvGraphicFramePr>
        <p:xfrm>
          <a:off x="2113612" y="2750629"/>
          <a:ext cx="7659974" cy="2651760"/>
        </p:xfrm>
        <a:graphic>
          <a:graphicData uri="http://schemas.openxmlformats.org/drawingml/2006/table">
            <a:tbl>
              <a:tblPr firstRow="1" bandRow="1">
                <a:tableStyleId>{5C22544A-7EE6-4342-B048-85BDC9FD1C3A}</a:tableStyleId>
              </a:tblPr>
              <a:tblGrid>
                <a:gridCol w="1749128"/>
                <a:gridCol w="283010"/>
                <a:gridCol w="3789044"/>
                <a:gridCol w="1838792"/>
              </a:tblGrid>
              <a:tr h="370840">
                <a:tc rowSpan="4">
                  <a:txBody>
                    <a:bodyPr/>
                    <a:lstStyle/>
                    <a:p>
                      <a:r>
                        <a:rPr sz="1300" b="1"/>
                        <a:t>Group / BSCS-J</a:t>
                      </a:r>
                      <a:endParaRPr sz="13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sz="1300" b="1"/>
                        <a:t>STUDENT NAME</a:t>
                      </a:r>
                      <a:endParaRPr sz="13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sz="1300" b="1"/>
                        <a:t>SAP ID</a:t>
                      </a:r>
                      <a:endParaRPr sz="13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0"/>
                        <a:t>M.Usman</a:t>
                      </a:r>
                      <a:r>
                        <a:rPr sz="1300" b="0"/>
                        <a:t>(Group Leader)</a:t>
                      </a:r>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0"/>
                        <a:t>SU92-BSCSM-F23-</a:t>
                      </a:r>
                      <a:r>
                        <a:rPr lang="en-US" sz="1300" b="0"/>
                        <a:t>063</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0"/>
                        <a:t>M.Faisal</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0"/>
                        <a:t>SU92-BSCSM-F23-</a:t>
                      </a:r>
                      <a:r>
                        <a:rPr lang="en-US" sz="1300" b="0"/>
                        <a:t>495</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sz="1300" b="1"/>
                        <a:t>Supervisor</a:t>
                      </a:r>
                      <a:endParaRPr sz="1300" b="1"/>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1300" b="1"/>
                        <a:t>Mr. Muhammad Shafiq</a:t>
                      </a:r>
                      <a:endParaRPr lang="en-US" sz="1300" b="1"/>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20" name="Superior University Logo"/>
          <p:cNvPicPr>
            <a:picLocks noChangeAspect="1"/>
          </p:cNvPicPr>
          <p:nvPr/>
        </p:nvPicPr>
        <p:blipFill>
          <a:blip r:embed="rId1"/>
          <a:stretch>
            <a:fillRect/>
          </a:stretch>
        </p:blipFill>
        <p:spPr>
          <a:xfrm>
            <a:off x="9798960" y="167890"/>
            <a:ext cx="731520" cy="731520"/>
          </a:xfrm>
          <a:prstGeom prst="rect">
            <a:avLst/>
          </a:prstGeom>
        </p:spPr>
      </p:pic>
      <p:sp>
        <p:nvSpPr>
          <p:cNvPr id="21" name="Superior University Wordmark"/>
          <p:cNvSpPr txBox="1"/>
          <p:nvPr/>
        </p:nvSpPr>
        <p:spPr>
          <a:xfrm>
            <a:off x="10667640" y="167890"/>
            <a:ext cx="2331720" cy="731520"/>
          </a:xfrm>
          <a:prstGeom prst="rect">
            <a:avLst/>
          </a:prstGeom>
          <a:noFill/>
          <a:ln>
            <a:noFill/>
          </a:ln>
        </p:spPr>
        <p:txBody>
          <a:bodyPr wrap="square" lIns="0" tIns="0" rIns="0" bIns="0" anchor="ctr">
            <a:noAutofit/>
          </a:bodyPr>
          <a:lstStyle/>
          <a:p>
            <a:pPr algn="l"/>
            <a:r>
              <a:rPr lang="en-US" sz="1800" b="1" dirty="0">
                <a:solidFill>
                  <a:srgbClr val="8F1F7E"/>
                </a:solidFill>
                <a:latin typeface="Georgia" panose="02040502050405020303" pitchFamily="18" charset="0"/>
              </a:rPr>
              <a:t>SUPERIOR</a:t>
            </a:r>
            <a:endParaRPr lang="en-US" sz="1800" b="1" dirty="0">
              <a:solidFill>
                <a:srgbClr val="8F1F7E"/>
              </a:solidFill>
              <a:latin typeface="Georgia" panose="02040502050405020303" pitchFamily="18" charset="0"/>
            </a:endParaRPr>
          </a:p>
          <a:p>
            <a:pPr algn="l">
              <a:spcBef>
                <a:spcPts val="0"/>
              </a:spcBef>
            </a:pPr>
            <a:r>
              <a:rPr lang="en-US" sz="1200" spc="150" dirty="0">
                <a:solidFill>
                  <a:srgbClr val="595959"/>
                </a:solidFill>
                <a:latin typeface="Georgia" panose="02040502050405020303" pitchFamily="18" charset="0"/>
              </a:rPr>
              <a:t>UNIVERSITY</a:t>
            </a:r>
            <a:endParaRPr lang="en-US" sz="1200" spc="150" dirty="0">
              <a:solidFill>
                <a:srgbClr val="595959"/>
              </a:solidFill>
              <a:latin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827" y="333751"/>
            <a:ext cx="8261808" cy="1325563"/>
          </a:xfrm>
        </p:spPr>
        <p:txBody>
          <a:bodyPr/>
          <a:lstStyle/>
          <a:p>
            <a:r>
              <a:rPr sz="3200" b="1"/>
              <a:t>Introduction</a:t>
            </a:r>
            <a:endParaRPr sz="3200" b="1"/>
          </a:p>
        </p:txBody>
      </p:sp>
      <p:sp>
        <p:nvSpPr>
          <p:cNvPr id="3" name="Content Placeholder 2"/>
          <p:cNvSpPr>
            <a:spLocks noGrp="1"/>
          </p:cNvSpPr>
          <p:nvPr>
            <p:ph idx="1"/>
          </p:nvPr>
        </p:nvSpPr>
        <p:spPr>
          <a:xfrm>
            <a:off x="838200" y="1825625"/>
            <a:ext cx="10515600" cy="4198103"/>
          </a:xfrm>
        </p:spPr>
        <p:txBody>
          <a:bodyPr wrap="square">
            <a:normAutofit/>
          </a:bodyPr>
          <a:lstStyle/>
          <a:p>
            <a:pPr>
              <a:spcAft>
                <a:spcPts val="600"/>
              </a:spcAft>
            </a:pPr>
            <a:r>
              <a:rPr lang="en-US" altLang="en-US" sz="1900" b="1">
                <a:solidFill>
                  <a:srgbClr val="156082"/>
                </a:solidFill>
              </a:rPr>
              <a:t>SafeLabel AI helps users identify potential allergens on packaged foods when labels are unfamiliar or in another language. Within seconds the app converts camera input or barcode scans into structured ingredient data, highlights possible allergens relative to a user profile, and explains uncertain matches. </a:t>
            </a:r>
            <a:endParaRPr lang="en-US" altLang="en-US" sz="1900" b="1">
              <a:solidFill>
                <a:srgbClr val="156082"/>
              </a:solidFill>
            </a:endParaRPr>
          </a:p>
          <a:p>
            <a:pPr>
              <a:spcAft>
                <a:spcPts val="600"/>
              </a:spcAft>
            </a:pPr>
            <a:r>
              <a:rPr lang="en-US" altLang="en-US" sz="1900" b="1">
                <a:solidFill>
                  <a:srgbClr val="156082"/>
                </a:solidFill>
              </a:rPr>
              <a:t>15‑second hook</a:t>
            </a:r>
            <a:endParaRPr lang="en-US" altLang="en-US" sz="1900" b="1">
              <a:solidFill>
                <a:srgbClr val="156082"/>
              </a:solidFill>
            </a:endParaRPr>
          </a:p>
          <a:p>
            <a:pPr lvl="1">
              <a:spcAft>
                <a:spcPts val="600"/>
              </a:spcAft>
            </a:pPr>
            <a:r>
              <a:rPr lang="en-US" altLang="en-US" sz="1700" b="0">
                <a:solidFill>
                  <a:srgbClr val="1F1F1F"/>
                </a:solidFill>
              </a:rPr>
              <a:t>What if you are allergic to peanuts but the label is unreadable? SafeLabel AI scans and interprets labels for you.</a:t>
            </a:r>
            <a:endParaRPr sz="1700" b="0">
              <a:solidFill>
                <a:srgbClr val="1F1F1F"/>
              </a:solidFill>
            </a:endParaRPr>
          </a:p>
          <a:p>
            <a:pPr>
              <a:spcAft>
                <a:spcPts val="600"/>
              </a:spcAft>
            </a:pPr>
            <a:r>
              <a:rPr lang="en-US" altLang="en-US" sz="1900" b="1">
                <a:solidFill>
                  <a:srgbClr val="156082"/>
                </a:solidFill>
              </a:rPr>
              <a:t>Primary goal</a:t>
            </a:r>
            <a:endParaRPr sz="1900" b="1">
              <a:solidFill>
                <a:srgbClr val="156082"/>
              </a:solidFill>
            </a:endParaRPr>
          </a:p>
          <a:p>
            <a:pPr lvl="1">
              <a:spcAft>
                <a:spcPts val="600"/>
              </a:spcAft>
            </a:pPr>
            <a:r>
              <a:rPr lang="en-US" altLang="en-US" sz="1700" b="0">
                <a:solidFill>
                  <a:srgbClr val="1F1F1F"/>
                </a:solidFill>
              </a:rPr>
              <a:t>Reduce the time and cognitive load required to check ingredient labels across languages and formats.</a:t>
            </a:r>
            <a:endParaRPr lang="en-US" altLang="en-US" sz="1700" b="0">
              <a:solidFill>
                <a:srgbClr val="1F1F1F"/>
              </a:solidFill>
            </a:endParaRPr>
          </a:p>
          <a:p>
            <a:pPr marL="0" indent="0">
              <a:spcAft>
                <a:spcPts val="600"/>
              </a:spcAft>
              <a:buNone/>
            </a:pPr>
            <a:endParaRPr sz="17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dirty="0"/>
          </a:p>
        </p:txBody>
      </p:sp>
      <p:pic>
        <p:nvPicPr>
          <p:cNvPr id="5" name="Superior University Logo"/>
          <p:cNvPicPr>
            <a:picLocks noChangeAspect="1"/>
          </p:cNvPicPr>
          <p:nvPr/>
        </p:nvPicPr>
        <p:blipFill>
          <a:blip r:embed="rId1"/>
          <a:stretch>
            <a:fillRect/>
          </a:stretch>
        </p:blipFill>
        <p:spPr>
          <a:xfrm>
            <a:off x="11264838" y="241492"/>
            <a:ext cx="731520" cy="731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827" y="333751"/>
            <a:ext cx="8261808" cy="1325563"/>
          </a:xfrm>
        </p:spPr>
        <p:txBody>
          <a:bodyPr/>
          <a:lstStyle/>
          <a:p>
            <a:r>
              <a:rPr sz="3200" b="1"/>
              <a:t>Background</a:t>
            </a:r>
            <a:endParaRPr sz="3200" b="1"/>
          </a:p>
        </p:txBody>
      </p:sp>
      <p:sp>
        <p:nvSpPr>
          <p:cNvPr id="3" name="Content Placeholder 2"/>
          <p:cNvSpPr>
            <a:spLocks noGrp="1"/>
          </p:cNvSpPr>
          <p:nvPr>
            <p:ph idx="1"/>
          </p:nvPr>
        </p:nvSpPr>
        <p:spPr>
          <a:xfrm>
            <a:off x="502920" y="1783080"/>
            <a:ext cx="5394960" cy="4206240"/>
          </a:xfrm>
        </p:spPr>
        <p:txBody>
          <a:bodyPr wrap="square">
            <a:normAutofit/>
          </a:bodyPr>
          <a:lstStyle/>
          <a:p>
            <a:pPr marL="457200" lvl="1" indent="0">
              <a:spcAft>
                <a:spcPts val="600"/>
              </a:spcAft>
              <a:buNone/>
            </a:pPr>
            <a:r>
              <a:rPr lang="en-US" altLang="en-US" sz="1800" b="0">
                <a:solidFill>
                  <a:srgbClr val="1F1F1F"/>
                </a:solidFill>
              </a:rPr>
              <a:t>Food labels vary by country, language, and industry vocabulary. Travelers and multilingual consumers often struggle to map ingredient names to allergens. Manual lookup is slow and error-prone; automation can increase speed and consistency. </a:t>
            </a:r>
            <a:endParaRPr lang="en-US" altLang="en-US" sz="18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dirty="0"/>
          </a:p>
        </p:txBody>
      </p:sp>
      <p:pic>
        <p:nvPicPr>
          <p:cNvPr id="5" name="Superior University Logo"/>
          <p:cNvPicPr>
            <a:picLocks noChangeAspect="1"/>
          </p:cNvPicPr>
          <p:nvPr/>
        </p:nvPicPr>
        <p:blipFill>
          <a:blip r:embed="rId1"/>
          <a:stretch>
            <a:fillRect/>
          </a:stretch>
        </p:blipFill>
        <p:spPr>
          <a:xfrm>
            <a:off x="11353800" y="163722"/>
            <a:ext cx="731520" cy="731520"/>
          </a:xfrm>
          <a:prstGeom prst="rect">
            <a:avLst/>
          </a:prstGeom>
        </p:spPr>
      </p:pic>
      <p:sp>
        <p:nvSpPr>
          <p:cNvPr id="8" name="TextBox 7"/>
          <p:cNvSpPr txBox="1"/>
          <p:nvPr/>
        </p:nvSpPr>
        <p:spPr>
          <a:xfrm>
            <a:off x="6172200" y="1783080"/>
            <a:ext cx="5394960" cy="365760"/>
          </a:xfrm>
          <a:prstGeom prst="rect">
            <a:avLst/>
          </a:prstGeom>
          <a:noFill/>
        </p:spPr>
        <p:txBody>
          <a:bodyPr wrap="square">
            <a:spAutoFit/>
          </a:bodyPr>
          <a:lstStyle/>
          <a:p>
            <a:pPr algn="l"/>
            <a:r>
              <a:rPr sz="1800" b="1">
                <a:solidFill>
                  <a:srgbClr val="156082"/>
                </a:solidFill>
              </a:rPr>
              <a:t>The gap that remains</a:t>
            </a:r>
            <a:endParaRPr sz="1800" b="1">
              <a:solidFill>
                <a:srgbClr val="156082"/>
              </a:solidFill>
            </a:endParaRPr>
          </a:p>
        </p:txBody>
      </p:sp>
      <p:sp>
        <p:nvSpPr>
          <p:cNvPr id="9" name="Rounded Rectangle 8"/>
          <p:cNvSpPr/>
          <p:nvPr/>
        </p:nvSpPr>
        <p:spPr>
          <a:xfrm>
            <a:off x="6172200" y="2240280"/>
            <a:ext cx="5349240" cy="1051560"/>
          </a:xfrm>
          <a:prstGeom prst="roundRect">
            <a:avLst/>
          </a:prstGeom>
          <a:solidFill>
            <a:srgbClr val="B46E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300" b="1">
                <a:solidFill>
                  <a:srgbClr val="FFFFFF"/>
                </a:solidFill>
              </a:rPr>
              <a:t>Challenge</a:t>
            </a:r>
            <a:endParaRPr sz="1300" b="1">
              <a:solidFill>
                <a:srgbClr val="FFFFFF"/>
              </a:solidFill>
            </a:endParaRPr>
          </a:p>
          <a:p>
            <a:pPr algn="ctr"/>
            <a:r>
              <a:rPr lang="en-US" altLang="en-US" sz="1100">
                <a:solidFill>
                  <a:srgbClr val="FFFFFF"/>
                </a:solidFill>
              </a:rPr>
              <a:t>Language barriers, synonyms, and inconsistent ingredient nomenclature</a:t>
            </a:r>
            <a:endParaRPr lang="en-US" altLang="en-US" sz="1100">
              <a:solidFill>
                <a:srgbClr val="FFFFFF"/>
              </a:solidFill>
            </a:endParaRPr>
          </a:p>
        </p:txBody>
      </p:sp>
      <p:sp>
        <p:nvSpPr>
          <p:cNvPr id="10" name="Rounded Rectangle 9"/>
          <p:cNvSpPr/>
          <p:nvPr/>
        </p:nvSpPr>
        <p:spPr>
          <a:xfrm>
            <a:off x="6172200" y="3474720"/>
            <a:ext cx="5349240" cy="105156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300" b="1">
                <a:solidFill>
                  <a:srgbClr val="FFFFFF"/>
                </a:solidFill>
              </a:rPr>
              <a:t>Opportunity</a:t>
            </a:r>
            <a:endParaRPr sz="1300" b="1">
              <a:solidFill>
                <a:srgbClr val="FFFFFF"/>
              </a:solidFill>
            </a:endParaRPr>
          </a:p>
          <a:p>
            <a:pPr algn="ctr"/>
            <a:r>
              <a:rPr lang="en-US" altLang="en-US" sz="1100">
                <a:solidFill>
                  <a:srgbClr val="FFFFFF"/>
                </a:solidFill>
              </a:rPr>
              <a:t>Combine OCR + NLP + translation to provide rapid, contextual allergen insights.</a:t>
            </a:r>
            <a:endParaRPr lang="en-US" altLang="en-US" sz="1100">
              <a:solidFill>
                <a:srgbClr val="FFFFFF"/>
              </a:solidFill>
            </a:endParaRPr>
          </a:p>
        </p:txBody>
      </p:sp>
      <p:sp>
        <p:nvSpPr>
          <p:cNvPr id="11" name="Rounded Rectangle 10"/>
          <p:cNvSpPr/>
          <p:nvPr/>
        </p:nvSpPr>
        <p:spPr>
          <a:xfrm>
            <a:off x="6172200" y="4709160"/>
            <a:ext cx="5349240" cy="1051560"/>
          </a:xfrm>
          <a:prstGeom prst="roundRect">
            <a:avLst/>
          </a:prstGeom>
          <a:solidFill>
            <a:srgbClr val="1E7A5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altLang="en-US" sz="1300" b="1">
                <a:solidFill>
                  <a:srgbClr val="FFFFFF"/>
                </a:solidFill>
              </a:rPr>
              <a:t>Safety note</a:t>
            </a:r>
            <a:endParaRPr sz="1300" b="1">
              <a:solidFill>
                <a:srgbClr val="FFFFFF"/>
              </a:solidFill>
            </a:endParaRPr>
          </a:p>
          <a:p>
            <a:pPr algn="ctr"/>
            <a:r>
              <a:rPr lang="en-US" altLang="en-US" sz="1100">
                <a:solidFill>
                  <a:srgbClr val="FFFFFF"/>
                </a:solidFill>
              </a:rPr>
              <a:t>Tool detects potential allergen matches; it does not provide medical guarantees.</a:t>
            </a:r>
            <a:endParaRPr sz="11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sz="3200" b="1"/>
              <a:t>Problem Statement</a:t>
            </a:r>
            <a:endParaRPr sz="3200" b="1"/>
          </a:p>
        </p:txBody>
      </p:sp>
      <p:sp>
        <p:nvSpPr>
          <p:cNvPr id="6" name="Content Placeholder 2"/>
          <p:cNvSpPr>
            <a:spLocks noGrp="1"/>
          </p:cNvSpPr>
          <p:nvPr>
            <p:ph idx="1"/>
          </p:nvPr>
        </p:nvSpPr>
        <p:spPr>
          <a:xfrm>
            <a:off x="838200" y="1817688"/>
            <a:ext cx="9804662" cy="4411662"/>
          </a:xfrm>
        </p:spPr>
        <p:txBody>
          <a:bodyPr wrap="square"/>
          <a:lstStyle/>
          <a:p>
            <a:pPr>
              <a:lnSpc>
                <a:spcPct val="100000"/>
              </a:lnSpc>
              <a:spcAft>
                <a:spcPts val="600"/>
              </a:spcAft>
            </a:pPr>
            <a:r>
              <a:rPr sz="2000" b="1">
                <a:solidFill>
                  <a:srgbClr val="156082"/>
                </a:solidFill>
              </a:rPr>
              <a:t>Problem</a:t>
            </a:r>
            <a:endParaRPr sz="2000" b="1">
              <a:solidFill>
                <a:srgbClr val="156082"/>
              </a:solidFill>
            </a:endParaRPr>
          </a:p>
          <a:p>
            <a:pPr marL="457200" lvl="1" indent="0">
              <a:spcAft>
                <a:spcPts val="600"/>
              </a:spcAft>
              <a:buNone/>
            </a:pPr>
            <a:r>
              <a:rPr lang="en-US" altLang="en-US" sz="1800" b="0">
                <a:solidFill>
                  <a:srgbClr val="1F1F1F"/>
                </a:solidFill>
              </a:rPr>
              <a:t>Many consumers cannot reliably determine whether a packaged food contains allergens when labels are in unfamiliar languages or use non-standard ingredient names. This increases risk, slows purchase decisions, and can lead to unsafe choices.</a:t>
            </a:r>
            <a:endParaRPr sz="1800" b="0">
              <a:solidFill>
                <a:srgbClr val="1F1F1F"/>
              </a:solidFill>
            </a:endParaRPr>
          </a:p>
          <a:p>
            <a:pPr>
              <a:spcAft>
                <a:spcPts val="600"/>
              </a:spcAft>
            </a:pPr>
            <a:r>
              <a:rPr lang="en-US" sz="2000" b="1">
                <a:solidFill>
                  <a:srgbClr val="156082"/>
                </a:solidFill>
              </a:rPr>
              <a:t>Core Problem</a:t>
            </a:r>
            <a:endParaRPr sz="2000" b="1">
              <a:solidFill>
                <a:srgbClr val="156082"/>
              </a:solidFill>
            </a:endParaRPr>
          </a:p>
          <a:p>
            <a:pPr marL="457200" lvl="1" indent="0">
              <a:spcAft>
                <a:spcPts val="600"/>
              </a:spcAft>
              <a:buNone/>
            </a:pPr>
            <a:r>
              <a:rPr lang="en-US" sz="1800" b="0">
                <a:solidFill>
                  <a:srgbClr val="1F1F1F"/>
                </a:solidFill>
              </a:rPr>
              <a:t>Inconsistent </a:t>
            </a:r>
            <a:r>
              <a:rPr lang="en-US" altLang="en-US" sz="1800" b="0">
                <a:solidFill>
                  <a:srgbClr val="1F1F1F"/>
                </a:solidFill>
              </a:rPr>
              <a:t>label language and terminology prevents quick allergen recognition.</a:t>
            </a:r>
            <a:endParaRPr sz="1800" b="0">
              <a:solidFill>
                <a:srgbClr val="1F1F1F"/>
              </a:solidFill>
            </a:endParaRPr>
          </a:p>
          <a:p>
            <a:pPr>
              <a:spcAft>
                <a:spcPts val="600"/>
              </a:spcAft>
            </a:pPr>
            <a:r>
              <a:rPr sz="2000" b="1">
                <a:solidFill>
                  <a:srgbClr val="156082"/>
                </a:solidFill>
              </a:rPr>
              <a:t>Impact if </a:t>
            </a:r>
            <a:r>
              <a:rPr lang="en-US" sz="2000" b="1">
                <a:solidFill>
                  <a:srgbClr val="156082"/>
                </a:solidFill>
              </a:rPr>
              <a:t>Solved</a:t>
            </a:r>
            <a:endParaRPr sz="2000" b="1">
              <a:solidFill>
                <a:srgbClr val="156082"/>
              </a:solidFill>
            </a:endParaRPr>
          </a:p>
          <a:p>
            <a:pPr marL="457200" lvl="1" indent="0">
              <a:spcAft>
                <a:spcPts val="600"/>
              </a:spcAft>
              <a:buNone/>
            </a:pPr>
            <a:r>
              <a:rPr lang="en-US" sz="1800" b="0">
                <a:solidFill>
                  <a:srgbClr val="1F1F1F"/>
                </a:solidFill>
              </a:rPr>
              <a:t>Faster, clearer label </a:t>
            </a:r>
            <a:r>
              <a:rPr lang="en-US" altLang="en-US" sz="1800" b="0">
                <a:solidFill>
                  <a:srgbClr val="1F1F1F"/>
                </a:solidFill>
              </a:rPr>
              <a:t>understanding for consumers; potential reduction in accidental exposures and improved consumer confidence.</a:t>
            </a:r>
            <a:endParaRPr lang="en-US" altLang="en-US" sz="1800" b="0">
              <a:solidFill>
                <a:srgbClr val="1F1F1F"/>
              </a:solidFill>
            </a:endParaRPr>
          </a:p>
        </p:txBody>
      </p:sp>
      <p:sp>
        <p:nvSpPr>
          <p:cNvPr id="3" name="Footer Placeholder 2"/>
          <p:cNvSpPr>
            <a:spLocks noGrp="1"/>
          </p:cNvSpPr>
          <p:nvPr>
            <p:ph type="ftr" sz="quarter" idx="11"/>
          </p:nvPr>
        </p:nvSpPr>
        <p:spPr/>
        <p:txBody>
          <a:bodyPr/>
          <a:lstStyle/>
          <a:p>
            <a:r>
              <a:rPr lang="en-US"/>
              <a:t>Department of Computer Science, FCS&amp;IT</a:t>
            </a:r>
            <a:endParaRPr lang="en-US"/>
          </a:p>
        </p:txBody>
      </p:sp>
      <p:sp>
        <p:nvSpPr>
          <p:cNvPr id="4" name="Slide Number Placeholder 3"/>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136525"/>
            <a:ext cx="731520" cy="731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Aims &amp; Objectives</a:t>
            </a:r>
            <a:endParaRPr sz="3200" b="1"/>
          </a:p>
        </p:txBody>
      </p:sp>
      <p:sp>
        <p:nvSpPr>
          <p:cNvPr id="3" name="Content Placeholder 2"/>
          <p:cNvSpPr>
            <a:spLocks noGrp="1"/>
          </p:cNvSpPr>
          <p:nvPr>
            <p:ph idx="1"/>
          </p:nvPr>
        </p:nvSpPr>
        <p:spPr/>
        <p:txBody>
          <a:bodyPr wrap="square"/>
          <a:lstStyle/>
          <a:p>
            <a:pPr>
              <a:spcAft>
                <a:spcPts val="300"/>
              </a:spcAft>
            </a:pPr>
            <a:r>
              <a:rPr lang="en-US" sz="1800" b="1">
                <a:solidFill>
                  <a:srgbClr val="156082"/>
                </a:solidFill>
              </a:rPr>
              <a:t>Aim </a:t>
            </a:r>
            <a:endParaRPr sz="1800" b="1">
              <a:solidFill>
                <a:srgbClr val="156082"/>
              </a:solidFill>
            </a:endParaRPr>
          </a:p>
          <a:p>
            <a:pPr lvl="1">
              <a:spcAft>
                <a:spcPts val="300"/>
              </a:spcAft>
            </a:pPr>
            <a:r>
              <a:rPr lang="en-US" altLang="en-US" sz="1600" b="0">
                <a:solidFill>
                  <a:srgbClr val="1F1F1F"/>
                </a:solidFill>
              </a:rPr>
              <a:t>Develop a mobile-capable system that identifies ingredients and flags potential allergens across languages.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1</a:t>
            </a:r>
            <a:r>
              <a:rPr sz="1800" b="1">
                <a:solidFill>
                  <a:srgbClr val="156082"/>
                </a:solidFill>
              </a:rPr>
              <a:t> </a:t>
            </a:r>
            <a:endParaRPr sz="1800" b="1">
              <a:solidFill>
                <a:srgbClr val="156082"/>
              </a:solidFill>
            </a:endParaRPr>
          </a:p>
          <a:p>
            <a:pPr lvl="1">
              <a:spcAft>
                <a:spcPts val="300"/>
              </a:spcAft>
            </a:pPr>
            <a:r>
              <a:rPr lang="en-US" sz="1600" b="0">
                <a:solidFill>
                  <a:srgbClr val="1F1F1F"/>
                </a:solidFill>
              </a:rPr>
              <a:t>I</a:t>
            </a:r>
            <a:r>
              <a:rPr lang="en-US" altLang="en-US" sz="1600" b="0">
                <a:solidFill>
                  <a:srgbClr val="1F1F1F"/>
                </a:solidFill>
              </a:rPr>
              <a:t>mplement robust OCR that handles photos of labels and noisy backgrounds (complete within 4 months).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2</a:t>
            </a:r>
            <a:endParaRPr sz="1800" b="1">
              <a:solidFill>
                <a:srgbClr val="156082"/>
              </a:solidFill>
            </a:endParaRPr>
          </a:p>
          <a:p>
            <a:pPr lvl="1">
              <a:spcAft>
                <a:spcPts val="300"/>
              </a:spcAft>
            </a:pPr>
            <a:r>
              <a:rPr lang="en-US" sz="1600" b="0">
                <a:solidFill>
                  <a:srgbClr val="1F1F1F"/>
                </a:solidFill>
              </a:rPr>
              <a:t>C</a:t>
            </a:r>
            <a:r>
              <a:rPr lang="en-US" altLang="en-US" sz="1600" b="0">
                <a:solidFill>
                  <a:srgbClr val="1F1F1F"/>
                </a:solidFill>
              </a:rPr>
              <a:t>reate an NLP pipeline for ingredient normalization, NER (ingredient entities), and allergen mapping (complete within 8 months).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3</a:t>
            </a:r>
            <a:endParaRPr sz="1800" b="1">
              <a:solidFill>
                <a:srgbClr val="156082"/>
              </a:solidFill>
            </a:endParaRPr>
          </a:p>
          <a:p>
            <a:pPr lvl="1">
              <a:spcAft>
                <a:spcPts val="300"/>
              </a:spcAft>
            </a:pPr>
            <a:r>
              <a:rPr lang="en-US" sz="1600" b="0">
                <a:solidFill>
                  <a:srgbClr val="1F1F1F"/>
                </a:solidFill>
              </a:rPr>
              <a:t>I</a:t>
            </a:r>
            <a:r>
              <a:rPr lang="en-US" altLang="en-US" sz="1600" b="0">
                <a:solidFill>
                  <a:srgbClr val="1F1F1F"/>
                </a:solidFill>
              </a:rPr>
              <a:t>ntegrate barcode lookup, multilingual translation, and a user allergy profile to provide personalized alerts (complete within 12 months).</a:t>
            </a:r>
            <a:endParaRPr sz="1600" b="0">
              <a:solidFill>
                <a:srgbClr val="1F1F1F"/>
              </a:solidFill>
            </a:endParaRPr>
          </a:p>
          <a:p>
            <a:pPr marL="0" indent="0">
              <a:spcAft>
                <a:spcPts val="300"/>
              </a:spcAft>
              <a:buNone/>
            </a:pPr>
            <a:endParaRPr sz="16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230188"/>
            <a:ext cx="731520" cy="731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Literature Study</a:t>
            </a:r>
            <a:r>
              <a:rPr lang="en-US" sz="3200" b="1"/>
              <a:t>			Existing Components</a:t>
            </a:r>
            <a:endParaRPr lang="en-US" sz="3200" b="1"/>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230188"/>
            <a:ext cx="731520" cy="731520"/>
          </a:xfrm>
          <a:prstGeom prst="rect">
            <a:avLst/>
          </a:prstGeom>
        </p:spPr>
      </p:pic>
      <p:sp>
        <p:nvSpPr>
          <p:cNvPr id="18" name="TextBox 17"/>
          <p:cNvSpPr txBox="1"/>
          <p:nvPr/>
        </p:nvSpPr>
        <p:spPr>
          <a:xfrm>
            <a:off x="948690" y="1691005"/>
            <a:ext cx="4151630" cy="2937510"/>
          </a:xfrm>
          <a:prstGeom prst="rect">
            <a:avLst/>
          </a:prstGeom>
          <a:noFill/>
        </p:spPr>
        <p:txBody>
          <a:bodyPr wrap="square">
            <a:noAutofit/>
          </a:bodyPr>
          <a:lstStyle/>
          <a:p>
            <a:pPr algn="l"/>
            <a:r>
              <a:rPr lang="en-US" altLang="en-US" sz="1600" b="0">
                <a:solidFill>
                  <a:srgbClr val="1F1F1F"/>
                </a:solidFill>
              </a:rPr>
              <a:t>Existing solutions address OCR for labels, translation services, and allergen databases separately. Fewer tools integrate OCR→NLP→allergen mapping with personalized profiles. Key gaps: cross-language ingredient normalization, false positives from ambiguous ingredient names, and end-to-end user testing data. </a:t>
            </a:r>
            <a:endParaRPr lang="en-US" altLang="en-US" sz="1600" b="0">
              <a:solidFill>
                <a:srgbClr val="1F1F1F"/>
              </a:solidFill>
            </a:endParaRPr>
          </a:p>
          <a:p>
            <a:pPr algn="l"/>
            <a:endParaRPr lang="en-US" altLang="en-US" sz="1600" b="0">
              <a:solidFill>
                <a:srgbClr val="1F1F1F"/>
              </a:solidFill>
            </a:endParaRPr>
          </a:p>
        </p:txBody>
      </p:sp>
      <p:sp>
        <p:nvSpPr>
          <p:cNvPr id="20" name="Rounded Rectangle 19"/>
          <p:cNvSpPr/>
          <p:nvPr/>
        </p:nvSpPr>
        <p:spPr>
          <a:xfrm>
            <a:off x="948563" y="4577715"/>
            <a:ext cx="10515600" cy="86868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1">
                <a:solidFill>
                  <a:srgbClr val="FFFFFF"/>
                </a:solidFill>
              </a:rPr>
              <a:t>Identified </a:t>
            </a:r>
            <a:r>
              <a:rPr sz="1400" b="1">
                <a:solidFill>
                  <a:srgbClr val="FFFFFF"/>
                </a:solidFill>
              </a:rPr>
              <a:t>GAP  —  </a:t>
            </a:r>
            <a:r>
              <a:rPr lang="en-US" sz="1400" b="1">
                <a:solidFill>
                  <a:srgbClr val="FFFFFF"/>
                </a:solidFill>
              </a:rPr>
              <a:t>I</a:t>
            </a:r>
            <a:r>
              <a:rPr lang="en-US" altLang="en-US" sz="1400" b="1">
                <a:solidFill>
                  <a:srgbClr val="FFFFFF"/>
                </a:solidFill>
              </a:rPr>
              <a:t>ntegration, multilingual normalization, and transparent confidence scoring are under-explored.</a:t>
            </a:r>
            <a:endParaRPr sz="1400" b="1">
              <a:solidFill>
                <a:srgbClr val="FFFFFF"/>
              </a:solidFill>
            </a:endParaRPr>
          </a:p>
        </p:txBody>
      </p:sp>
      <p:sp>
        <p:nvSpPr>
          <p:cNvPr id="4" name="TextBox 17"/>
          <p:cNvSpPr txBox="1"/>
          <p:nvPr/>
        </p:nvSpPr>
        <p:spPr>
          <a:xfrm>
            <a:off x="6308090" y="1640205"/>
            <a:ext cx="4151630" cy="2937510"/>
          </a:xfrm>
          <a:prstGeom prst="rect">
            <a:avLst/>
          </a:prstGeom>
          <a:noFill/>
        </p:spPr>
        <p:txBody>
          <a:bodyPr wrap="square">
            <a:noAutofit/>
          </a:bodyPr>
          <a:lstStyle/>
          <a:p>
            <a:pPr algn="l"/>
            <a:r>
              <a:rPr lang="en-US" altLang="en-US" sz="1600" b="0">
                <a:solidFill>
                  <a:srgbClr val="1F1F1F"/>
                </a:solidFill>
              </a:rPr>
              <a:t>OCR engines, machine translation, ingredient taxonomies, and allergen registries exist independently.</a:t>
            </a:r>
            <a:endParaRPr lang="en-US" altLang="en-US" sz="1600" b="0">
              <a:solidFill>
                <a:srgbClr val="1F1F1F"/>
              </a:solidFill>
            </a:endParaRPr>
          </a:p>
          <a:p>
            <a:pPr algn="l"/>
            <a:endParaRPr lang="en-US" altLang="en-US" sz="1600" b="0">
              <a:solidFill>
                <a:srgbClr val="1F1F1F"/>
              </a:solidFill>
            </a:endParaRPr>
          </a:p>
          <a:p>
            <a:pPr algn="l"/>
            <a:endParaRPr lang="en-US" altLang="en-US" sz="1600" b="0">
              <a:solidFill>
                <a:srgbClr val="1F1F1F"/>
              </a:solidFill>
            </a:endParaRPr>
          </a:p>
          <a:p>
            <a:pPr algn="l"/>
            <a:endParaRPr lang="en-US" altLang="en-US" sz="1600" b="0">
              <a:solidFill>
                <a:srgbClr val="1F1F1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Proposed Design — Major Blocks</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1</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The solution is modular to support iterative development and testing.</a:t>
            </a:r>
            <a:endParaRPr lang="en-US" sz="1600" dirty="0"/>
          </a:p>
        </p:txBody>
      </p:sp>
      <p:sp>
        <p:nvSpPr>
          <p:cNvPr id="7" name="Shape 4"/>
          <p:cNvSpPr/>
          <p:nvPr/>
        </p:nvSpPr>
        <p:spPr>
          <a:xfrm>
            <a:off x="838048" y="2148840"/>
            <a:ext cx="2503170" cy="1554480"/>
          </a:xfrm>
          <a:prstGeom prst="roundRect">
            <a:avLst>
              <a:gd name="adj" fmla="val 4706"/>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1 · Capture layer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Camera, gallery, and barcode input.</a:t>
            </a:r>
            <a:endParaRPr lang="en-US" sz="1300" dirty="0"/>
          </a:p>
        </p:txBody>
      </p:sp>
      <p:sp>
        <p:nvSpPr>
          <p:cNvPr id="9" name="Shape 6"/>
          <p:cNvSpPr/>
          <p:nvPr/>
        </p:nvSpPr>
        <p:spPr>
          <a:xfrm>
            <a:off x="3478378" y="2148840"/>
            <a:ext cx="2503170" cy="1554480"/>
          </a:xfrm>
          <a:prstGeom prst="roundRect">
            <a:avLst>
              <a:gd name="adj" fmla="val 4706"/>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5153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2 · OCR &amp; preprocessing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Image cleanup and text extraction.</a:t>
            </a:r>
            <a:endParaRPr lang="en-US" sz="1300" dirty="0"/>
          </a:p>
        </p:txBody>
      </p:sp>
      <p:sp>
        <p:nvSpPr>
          <p:cNvPr id="11" name="Shape 8"/>
          <p:cNvSpPr/>
          <p:nvPr/>
        </p:nvSpPr>
        <p:spPr>
          <a:xfrm>
            <a:off x="6118708" y="2148840"/>
            <a:ext cx="2503170" cy="1554480"/>
          </a:xfrm>
          <a:prstGeom prst="roundRect">
            <a:avLst>
              <a:gd name="adj" fmla="val 4706"/>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19186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3 · Language &amp; translation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Detect language, normalize to a common one.</a:t>
            </a:r>
            <a:endParaRPr lang="en-US" sz="1300" dirty="0"/>
          </a:p>
        </p:txBody>
      </p:sp>
      <p:sp>
        <p:nvSpPr>
          <p:cNvPr id="13" name="Shape 10"/>
          <p:cNvSpPr/>
          <p:nvPr/>
        </p:nvSpPr>
        <p:spPr>
          <a:xfrm>
            <a:off x="8759038" y="2148840"/>
            <a:ext cx="2503170" cy="1554480"/>
          </a:xfrm>
          <a:prstGeom prst="roundRect">
            <a:avLst>
              <a:gd name="adj" fmla="val 4706"/>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3219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4 · Ingredient extraction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NER-based extraction &amp; normalization.</a:t>
            </a:r>
            <a:endParaRPr lang="en-US" sz="1300" dirty="0"/>
          </a:p>
        </p:txBody>
      </p:sp>
      <p:sp>
        <p:nvSpPr>
          <p:cNvPr id="15" name="Shape 12"/>
          <p:cNvSpPr/>
          <p:nvPr/>
        </p:nvSpPr>
        <p:spPr>
          <a:xfrm>
            <a:off x="838048" y="3977640"/>
            <a:ext cx="3383280" cy="1554480"/>
          </a:xfrm>
          <a:prstGeom prst="roundRect">
            <a:avLst>
              <a:gd name="adj" fmla="val 4706"/>
            </a:avLst>
          </a:prstGeom>
          <a:solidFill>
            <a:srgbClr val="156082"/>
          </a:solidFill>
          <a:effectLst>
            <a:outerShdw blurRad="76200" dist="25400" dir="5400000" algn="bl" rotWithShape="0">
              <a:srgbClr val="000000">
                <a:alpha val="25000"/>
              </a:srgbClr>
            </a:outerShdw>
          </a:effectLst>
        </p:spPr>
      </p:sp>
      <p:sp>
        <p:nvSpPr>
          <p:cNvPr id="16" name="Text 13"/>
          <p:cNvSpPr/>
          <p:nvPr/>
        </p:nvSpPr>
        <p:spPr>
          <a:xfrm>
            <a:off x="91120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5 · Allergen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Confidence-scored allergen matching.</a:t>
            </a:r>
            <a:endParaRPr lang="en-US" sz="1300" dirty="0"/>
          </a:p>
        </p:txBody>
      </p:sp>
      <p:sp>
        <p:nvSpPr>
          <p:cNvPr id="17" name="Shape 14"/>
          <p:cNvSpPr/>
          <p:nvPr/>
        </p:nvSpPr>
        <p:spPr>
          <a:xfrm>
            <a:off x="4358488" y="3977640"/>
            <a:ext cx="3383280" cy="1554480"/>
          </a:xfrm>
          <a:prstGeom prst="roundRect">
            <a:avLst>
              <a:gd name="adj" fmla="val 4706"/>
            </a:avLst>
          </a:prstGeom>
          <a:solidFill>
            <a:srgbClr val="1E7A5E"/>
          </a:solidFill>
          <a:effectLst>
            <a:outerShdw blurRad="76200" dist="25400" dir="5400000" algn="bl" rotWithShape="0">
              <a:srgbClr val="000000">
                <a:alpha val="25000"/>
              </a:srgbClr>
            </a:outerShdw>
          </a:effectLst>
        </p:spPr>
      </p:sp>
      <p:sp>
        <p:nvSpPr>
          <p:cNvPr id="18" name="Text 15"/>
          <p:cNvSpPr/>
          <p:nvPr/>
        </p:nvSpPr>
        <p:spPr>
          <a:xfrm>
            <a:off x="443164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6 · User profile</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Personalization by allergy profile.</a:t>
            </a:r>
            <a:endParaRPr lang="en-US" sz="1300" dirty="0"/>
          </a:p>
        </p:txBody>
      </p:sp>
      <p:sp>
        <p:nvSpPr>
          <p:cNvPr id="19" name="Shape 16"/>
          <p:cNvSpPr/>
          <p:nvPr/>
        </p:nvSpPr>
        <p:spPr>
          <a:xfrm>
            <a:off x="7878928" y="3977640"/>
            <a:ext cx="3383280" cy="1554480"/>
          </a:xfrm>
          <a:prstGeom prst="roundRect">
            <a:avLst>
              <a:gd name="adj" fmla="val 4706"/>
            </a:avLst>
          </a:prstGeom>
          <a:solidFill>
            <a:srgbClr val="A02B93"/>
          </a:solidFill>
          <a:effectLst>
            <a:outerShdw blurRad="76200" dist="25400" dir="5400000" algn="bl" rotWithShape="0">
              <a:srgbClr val="000000">
                <a:alpha val="25000"/>
              </a:srgbClr>
            </a:outerShdw>
          </a:effectLst>
        </p:spPr>
      </p:sp>
      <p:sp>
        <p:nvSpPr>
          <p:cNvPr id="20" name="Text 17"/>
          <p:cNvSpPr/>
          <p:nvPr/>
        </p:nvSpPr>
        <p:spPr>
          <a:xfrm>
            <a:off x="795208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7 · Results UI</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Explanations &amp; suggested next steps.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Overall Workflow</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2</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Proposed pipeline: from a product scan to an explained allergen result.</a:t>
            </a:r>
            <a:endParaRPr lang="en-US" sz="1600" dirty="0"/>
          </a:p>
        </p:txBody>
      </p:sp>
      <p:sp>
        <p:nvSpPr>
          <p:cNvPr id="7" name="Shape 4"/>
          <p:cNvSpPr/>
          <p:nvPr/>
        </p:nvSpPr>
        <p:spPr>
          <a:xfrm>
            <a:off x="838048" y="2286000"/>
            <a:ext cx="2414016" cy="868680"/>
          </a:xfrm>
          <a:prstGeom prst="roundRect">
            <a:avLst>
              <a:gd name="adj" fmla="val 7368"/>
            </a:avLst>
          </a:prstGeom>
          <a:solidFill>
            <a:srgbClr val="8C8C8C"/>
          </a:solidFill>
        </p:spPr>
      </p:sp>
      <p:sp>
        <p:nvSpPr>
          <p:cNvPr id="8" name="Text 5"/>
          <p:cNvSpPr/>
          <p:nvPr/>
        </p:nvSpPr>
        <p:spPr>
          <a:xfrm>
            <a:off x="883768"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User</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Opens app, scans product</a:t>
            </a:r>
            <a:endParaRPr lang="en-US" sz="1150" dirty="0"/>
          </a:p>
        </p:txBody>
      </p:sp>
      <p:sp>
        <p:nvSpPr>
          <p:cNvPr id="9" name="Shape 6"/>
          <p:cNvSpPr/>
          <p:nvPr/>
        </p:nvSpPr>
        <p:spPr>
          <a:xfrm>
            <a:off x="3242920" y="2601468"/>
            <a:ext cx="274320" cy="237744"/>
          </a:xfrm>
          <a:prstGeom prst="rightArrow">
            <a:avLst/>
          </a:prstGeom>
          <a:solidFill>
            <a:srgbClr val="8C8C8C"/>
          </a:solidFill>
        </p:spPr>
      </p:sp>
      <p:sp>
        <p:nvSpPr>
          <p:cNvPr id="10" name="Shape 7"/>
          <p:cNvSpPr/>
          <p:nvPr/>
        </p:nvSpPr>
        <p:spPr>
          <a:xfrm>
            <a:off x="3508096" y="2286000"/>
            <a:ext cx="2414016" cy="868680"/>
          </a:xfrm>
          <a:prstGeom prst="roundRect">
            <a:avLst>
              <a:gd name="adj" fmla="val 7368"/>
            </a:avLst>
          </a:prstGeom>
          <a:solidFill>
            <a:srgbClr val="156082"/>
          </a:solidFill>
        </p:spPr>
      </p:sp>
      <p:sp>
        <p:nvSpPr>
          <p:cNvPr id="11" name="Text 8"/>
          <p:cNvSpPr/>
          <p:nvPr/>
        </p:nvSpPr>
        <p:spPr>
          <a:xfrm>
            <a:off x="3553816"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Scan Product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Barcode or photo</a:t>
            </a:r>
            <a:endParaRPr lang="en-US" sz="1150" dirty="0"/>
          </a:p>
        </p:txBody>
      </p:sp>
      <p:sp>
        <p:nvSpPr>
          <p:cNvPr id="12" name="Shape 9"/>
          <p:cNvSpPr/>
          <p:nvPr/>
        </p:nvSpPr>
        <p:spPr>
          <a:xfrm>
            <a:off x="5912968" y="2601468"/>
            <a:ext cx="274320" cy="237744"/>
          </a:xfrm>
          <a:prstGeom prst="rightArrow">
            <a:avLst/>
          </a:prstGeom>
          <a:solidFill>
            <a:srgbClr val="8C8C8C"/>
          </a:solidFill>
        </p:spPr>
      </p:sp>
      <p:sp>
        <p:nvSpPr>
          <p:cNvPr id="13" name="Shape 10"/>
          <p:cNvSpPr/>
          <p:nvPr/>
        </p:nvSpPr>
        <p:spPr>
          <a:xfrm>
            <a:off x="6178144" y="2286000"/>
            <a:ext cx="2414016" cy="868680"/>
          </a:xfrm>
          <a:prstGeom prst="roundRect">
            <a:avLst>
              <a:gd name="adj" fmla="val 7368"/>
            </a:avLst>
          </a:prstGeom>
          <a:solidFill>
            <a:srgbClr val="1E7A5E"/>
          </a:solidFill>
        </p:spPr>
      </p:sp>
      <p:sp>
        <p:nvSpPr>
          <p:cNvPr id="14" name="Text 11"/>
          <p:cNvSpPr/>
          <p:nvPr/>
        </p:nvSpPr>
        <p:spPr>
          <a:xfrm>
            <a:off x="6223864"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Retrieve / Extract Ingredients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DB lookup or OCR</a:t>
            </a:r>
            <a:endParaRPr lang="en-US" sz="1150" dirty="0"/>
          </a:p>
        </p:txBody>
      </p:sp>
      <p:sp>
        <p:nvSpPr>
          <p:cNvPr id="15" name="Shape 12"/>
          <p:cNvSpPr/>
          <p:nvPr/>
        </p:nvSpPr>
        <p:spPr>
          <a:xfrm>
            <a:off x="8583016" y="2601468"/>
            <a:ext cx="274320" cy="237744"/>
          </a:xfrm>
          <a:prstGeom prst="rightArrow">
            <a:avLst/>
          </a:prstGeom>
          <a:solidFill>
            <a:srgbClr val="8C8C8C"/>
          </a:solidFill>
        </p:spPr>
      </p:sp>
      <p:sp>
        <p:nvSpPr>
          <p:cNvPr id="16" name="Shape 13"/>
          <p:cNvSpPr/>
          <p:nvPr/>
        </p:nvSpPr>
        <p:spPr>
          <a:xfrm>
            <a:off x="8848192" y="2286000"/>
            <a:ext cx="2414016" cy="868680"/>
          </a:xfrm>
          <a:prstGeom prst="roundRect">
            <a:avLst>
              <a:gd name="adj" fmla="val 7368"/>
            </a:avLst>
          </a:prstGeom>
          <a:solidFill>
            <a:srgbClr val="A02B93"/>
          </a:solidFill>
        </p:spPr>
      </p:sp>
      <p:sp>
        <p:nvSpPr>
          <p:cNvPr id="17" name="Text 14"/>
          <p:cNvSpPr/>
          <p:nvPr/>
        </p:nvSpPr>
        <p:spPr>
          <a:xfrm>
            <a:off x="8893912"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Process Text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Language ID + translation</a:t>
            </a:r>
            <a:endParaRPr lang="en-US" sz="1150" dirty="0"/>
          </a:p>
        </p:txBody>
      </p:sp>
      <p:sp>
        <p:nvSpPr>
          <p:cNvPr id="18" name="Shape 15"/>
          <p:cNvSpPr/>
          <p:nvPr/>
        </p:nvSpPr>
        <p:spPr>
          <a:xfrm>
            <a:off x="838048" y="3977640"/>
            <a:ext cx="3304032" cy="868680"/>
          </a:xfrm>
          <a:prstGeom prst="roundRect">
            <a:avLst>
              <a:gd name="adj" fmla="val 7368"/>
            </a:avLst>
          </a:prstGeom>
          <a:solidFill>
            <a:srgbClr val="B46E00"/>
          </a:solidFill>
        </p:spPr>
      </p:sp>
      <p:sp>
        <p:nvSpPr>
          <p:cNvPr id="19" name="Text 16"/>
          <p:cNvSpPr/>
          <p:nvPr/>
        </p:nvSpPr>
        <p:spPr>
          <a:xfrm>
            <a:off x="883768"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Identify Ingredients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NLP / NER</a:t>
            </a:r>
            <a:endParaRPr lang="en-US" sz="1150" dirty="0"/>
          </a:p>
        </p:txBody>
      </p:sp>
      <p:sp>
        <p:nvSpPr>
          <p:cNvPr id="20" name="Shape 17"/>
          <p:cNvSpPr/>
          <p:nvPr/>
        </p:nvSpPr>
        <p:spPr>
          <a:xfrm>
            <a:off x="4132936" y="4293108"/>
            <a:ext cx="274320" cy="237744"/>
          </a:xfrm>
          <a:prstGeom prst="rightArrow">
            <a:avLst/>
          </a:prstGeom>
          <a:solidFill>
            <a:srgbClr val="8C8C8C"/>
          </a:solidFill>
        </p:spPr>
      </p:sp>
      <p:sp>
        <p:nvSpPr>
          <p:cNvPr id="21" name="Shape 18"/>
          <p:cNvSpPr/>
          <p:nvPr/>
        </p:nvSpPr>
        <p:spPr>
          <a:xfrm>
            <a:off x="4398112" y="3977640"/>
            <a:ext cx="3304032" cy="868680"/>
          </a:xfrm>
          <a:prstGeom prst="roundRect">
            <a:avLst>
              <a:gd name="adj" fmla="val 7368"/>
            </a:avLst>
          </a:prstGeom>
          <a:solidFill>
            <a:srgbClr val="156082"/>
          </a:solidFill>
        </p:spPr>
      </p:sp>
      <p:sp>
        <p:nvSpPr>
          <p:cNvPr id="22" name="Text 19"/>
          <p:cNvSpPr/>
          <p:nvPr/>
        </p:nvSpPr>
        <p:spPr>
          <a:xfrm>
            <a:off x="4443832"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Detect Allergens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Matching + synonyms</a:t>
            </a:r>
            <a:endParaRPr lang="en-US" sz="1150" dirty="0"/>
          </a:p>
        </p:txBody>
      </p:sp>
      <p:sp>
        <p:nvSpPr>
          <p:cNvPr id="23" name="Shape 20"/>
          <p:cNvSpPr/>
          <p:nvPr/>
        </p:nvSpPr>
        <p:spPr>
          <a:xfrm>
            <a:off x="7693000" y="4293108"/>
            <a:ext cx="274320" cy="237744"/>
          </a:xfrm>
          <a:prstGeom prst="rightArrow">
            <a:avLst/>
          </a:prstGeom>
          <a:solidFill>
            <a:srgbClr val="8C8C8C"/>
          </a:solidFill>
        </p:spPr>
      </p:sp>
      <p:sp>
        <p:nvSpPr>
          <p:cNvPr id="24" name="Shape 21"/>
          <p:cNvSpPr/>
          <p:nvPr/>
        </p:nvSpPr>
        <p:spPr>
          <a:xfrm>
            <a:off x="7958176" y="3977640"/>
            <a:ext cx="3304032" cy="868680"/>
          </a:xfrm>
          <a:prstGeom prst="roundRect">
            <a:avLst>
              <a:gd name="adj" fmla="val 7368"/>
            </a:avLst>
          </a:prstGeom>
          <a:solidFill>
            <a:srgbClr val="A02B93"/>
          </a:solidFill>
        </p:spPr>
      </p:sp>
      <p:sp>
        <p:nvSpPr>
          <p:cNvPr id="25" name="Text 22"/>
          <p:cNvSpPr/>
          <p:nvPr/>
        </p:nvSpPr>
        <p:spPr>
          <a:xfrm>
            <a:off x="8003896"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Explain Result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Ingredient → allergen → reason</a:t>
            </a:r>
            <a:endParaRPr lang="en-US" sz="1150" dirty="0"/>
          </a:p>
        </p:txBody>
      </p:sp>
      <p:sp>
        <p:nvSpPr>
          <p:cNvPr id="26" name="Shape 23"/>
          <p:cNvSpPr/>
          <p:nvPr/>
        </p:nvSpPr>
        <p:spPr>
          <a:xfrm>
            <a:off x="9936328" y="3209544"/>
            <a:ext cx="237744" cy="274320"/>
          </a:xfrm>
          <a:prstGeom prst="downArrow">
            <a:avLst/>
          </a:prstGeom>
          <a:solidFill>
            <a:srgbClr val="8C8C8C"/>
          </a:solidFill>
        </p:spPr>
      </p:sp>
      <p:sp>
        <p:nvSpPr>
          <p:cNvPr id="27" name="Shape 24"/>
          <p:cNvSpPr/>
          <p:nvPr/>
        </p:nvSpPr>
        <p:spPr>
          <a:xfrm>
            <a:off x="838048" y="5166360"/>
            <a:ext cx="10424160" cy="914400"/>
          </a:xfrm>
          <a:prstGeom prst="roundRect">
            <a:avLst>
              <a:gd name="adj" fmla="val 6000"/>
            </a:avLst>
          </a:prstGeom>
          <a:solidFill>
            <a:srgbClr val="F2F2F2"/>
          </a:solidFill>
          <a:ln w="12700">
            <a:solidFill>
              <a:srgbClr val="156082"/>
            </a:solidFill>
            <a:prstDash val="solid"/>
          </a:ln>
        </p:spPr>
      </p:sp>
      <p:sp>
        <p:nvSpPr>
          <p:cNvPr id="28" name="Text 25"/>
          <p:cNvSpPr/>
          <p:nvPr/>
        </p:nvSpPr>
        <p:spPr>
          <a:xfrm>
            <a:off x="1005840" y="5212080"/>
            <a:ext cx="10058400" cy="822960"/>
          </a:xfrm>
          <a:prstGeom prst="rect">
            <a:avLst/>
          </a:prstGeom>
          <a:noFill/>
        </p:spPr>
        <p:txBody>
          <a:bodyPr wrap="square" lIns="0" tIns="0" rIns="0" bIns="0" rtlCol="0" anchor="ctr"/>
          <a:lstStyle/>
          <a:p>
            <a:pPr marL="0" indent="0" algn="l">
              <a:buNone/>
            </a:pPr>
            <a:r>
              <a:rPr lang="en-US" sz="1300" b="1" dirty="0">
                <a:solidFill>
                  <a:srgbClr val="156082"/>
                </a:solidFill>
                <a:latin typeface="Aptos" charset="0"/>
                <a:ea typeface="Aptos" pitchFamily="34" charset="-122"/>
                <a:cs typeface="Aptos" pitchFamily="34" charset="-120"/>
              </a:rPr>
              <a:t>Method 1 — Barcode scanning   </a:t>
            </a:r>
            <a:endParaRPr lang="en-US" sz="1300" dirty="0"/>
          </a:p>
          <a:p>
            <a:pPr marL="0" indent="0" algn="l">
              <a:buNone/>
            </a:pPr>
            <a:r>
              <a:rPr lang="en-US" sz="1200" dirty="0">
                <a:solidFill>
                  <a:srgbClr val="000000"/>
                </a:solidFill>
                <a:latin typeface="Aptos" charset="0"/>
                <a:ea typeface="Aptos" pitchFamily="34" charset="-122"/>
                <a:cs typeface="Aptos" pitchFamily="34" charset="-120"/>
              </a:rPr>
              <a:t>If the product's barcode is recognized:  Barcode → Product Database/API → Product Information.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Detection Methods (1–4)</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3</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How ingredient text is obtained and normalized before analysis.</a:t>
            </a:r>
            <a:endParaRPr lang="en-US" sz="1600" dirty="0"/>
          </a:p>
        </p:txBody>
      </p:sp>
      <p:sp>
        <p:nvSpPr>
          <p:cNvPr id="7" name="Shape 4"/>
          <p:cNvSpPr/>
          <p:nvPr/>
        </p:nvSpPr>
        <p:spPr>
          <a:xfrm>
            <a:off x="838048" y="2377440"/>
            <a:ext cx="2468880" cy="1737360"/>
          </a:xfrm>
          <a:prstGeom prst="roundRect">
            <a:avLst>
              <a:gd name="adj" fmla="val 4211"/>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1 · Barcode scanning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Barcode → Product Database/API → Product Information, when available.</a:t>
            </a:r>
            <a:endParaRPr lang="en-US" sz="1300" dirty="0"/>
          </a:p>
        </p:txBody>
      </p:sp>
      <p:sp>
        <p:nvSpPr>
          <p:cNvPr id="9" name="Shape 6"/>
          <p:cNvSpPr/>
          <p:nvPr/>
        </p:nvSpPr>
        <p:spPr>
          <a:xfrm>
            <a:off x="3489808" y="2377440"/>
            <a:ext cx="2468880" cy="1737360"/>
          </a:xfrm>
          <a:prstGeom prst="roundRect">
            <a:avLst>
              <a:gd name="adj" fmla="val 4211"/>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6296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2 · OCR (PaddleOCR)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If no barcode match: Camera → Ingredient Label → OCR → Text.</a:t>
            </a:r>
            <a:endParaRPr lang="en-US" sz="1300" dirty="0"/>
          </a:p>
        </p:txBody>
      </p:sp>
      <p:sp>
        <p:nvSpPr>
          <p:cNvPr id="11" name="Shape 8"/>
          <p:cNvSpPr/>
          <p:nvPr/>
        </p:nvSpPr>
        <p:spPr>
          <a:xfrm>
            <a:off x="6141568" y="2377440"/>
            <a:ext cx="2468880" cy="1737360"/>
          </a:xfrm>
          <a:prstGeom prst="roundRect">
            <a:avLst>
              <a:gd name="adj" fmla="val 4211"/>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21472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3 · Language detection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The extracted text is checked to identify its language.</a:t>
            </a:r>
            <a:endParaRPr lang="en-US" sz="1300" dirty="0"/>
          </a:p>
        </p:txBody>
      </p:sp>
      <p:sp>
        <p:nvSpPr>
          <p:cNvPr id="13" name="Shape 10"/>
          <p:cNvSpPr/>
          <p:nvPr/>
        </p:nvSpPr>
        <p:spPr>
          <a:xfrm>
            <a:off x="8793328" y="2377440"/>
            <a:ext cx="2468880" cy="1737360"/>
          </a:xfrm>
          <a:prstGeom prst="roundRect">
            <a:avLst>
              <a:gd name="adj" fmla="val 4211"/>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6648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4 · Translation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Ingredient text is translated into a common processing language.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Detection Methods (5–8)</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4</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How extracted ingredients are turned into an explained allergen result.</a:t>
            </a:r>
            <a:endParaRPr lang="en-US" sz="1600" dirty="0"/>
          </a:p>
        </p:txBody>
      </p:sp>
      <p:sp>
        <p:nvSpPr>
          <p:cNvPr id="7" name="Shape 4"/>
          <p:cNvSpPr/>
          <p:nvPr/>
        </p:nvSpPr>
        <p:spPr>
          <a:xfrm>
            <a:off x="838048" y="2377440"/>
            <a:ext cx="2468880" cy="1737360"/>
          </a:xfrm>
          <a:prstGeom prst="roundRect">
            <a:avLst>
              <a:gd name="adj" fmla="val 4211"/>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5 · NLP / NER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Named Entity Recognition identifies ingredient entities in the text.</a:t>
            </a:r>
            <a:endParaRPr lang="en-US" sz="1300" dirty="0"/>
          </a:p>
        </p:txBody>
      </p:sp>
      <p:sp>
        <p:nvSpPr>
          <p:cNvPr id="9" name="Shape 6"/>
          <p:cNvSpPr/>
          <p:nvPr/>
        </p:nvSpPr>
        <p:spPr>
          <a:xfrm>
            <a:off x="3489808" y="2377440"/>
            <a:ext cx="2468880" cy="1737360"/>
          </a:xfrm>
          <a:prstGeom prst="roundRect">
            <a:avLst>
              <a:gd name="adj" fmla="val 4211"/>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6296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6 · Allergen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Ingredients are compared to allergen data; synonym mapping links naming variants.</a:t>
            </a:r>
            <a:endParaRPr lang="en-US" sz="1300" dirty="0"/>
          </a:p>
        </p:txBody>
      </p:sp>
      <p:sp>
        <p:nvSpPr>
          <p:cNvPr id="11" name="Shape 8"/>
          <p:cNvSpPr/>
          <p:nvPr/>
        </p:nvSpPr>
        <p:spPr>
          <a:xfrm>
            <a:off x="6141568" y="2377440"/>
            <a:ext cx="2468880" cy="1737360"/>
          </a:xfrm>
          <a:prstGeom prst="roundRect">
            <a:avLst>
              <a:gd name="adj" fmla="val 4211"/>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21472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7 · User profile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Detected allergens are compared against the user's selected allergy profile.</a:t>
            </a:r>
            <a:endParaRPr lang="en-US" sz="1300" dirty="0"/>
          </a:p>
        </p:txBody>
      </p:sp>
      <p:sp>
        <p:nvSpPr>
          <p:cNvPr id="13" name="Shape 10"/>
          <p:cNvSpPr/>
          <p:nvPr/>
        </p:nvSpPr>
        <p:spPr>
          <a:xfrm>
            <a:off x="8793328" y="2377440"/>
            <a:ext cx="2468880" cy="1737360"/>
          </a:xfrm>
          <a:prstGeom prst="roundRect">
            <a:avLst>
              <a:gd name="adj" fmla="val 4211"/>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6648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8 · Evidence-based result</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Shows Ingredient → Allergen → Reason, not just a binary decision.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Technologies &amp; Data</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5</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Tools and resources identified from the project concept.</a:t>
            </a:r>
            <a:endParaRPr lang="en-US" sz="1600" dirty="0"/>
          </a:p>
        </p:txBody>
      </p:sp>
      <p:graphicFrame>
        <p:nvGraphicFramePr>
          <p:cNvPr id="7" name="Table 0"/>
          <p:cNvGraphicFramePr>
            <a:graphicFrameLocks noGrp="1"/>
          </p:cNvGraphicFramePr>
          <p:nvPr/>
        </p:nvGraphicFramePr>
        <p:xfrm>
          <a:off x="838048" y="2148840"/>
          <a:ext cx="10424160" cy="2834643"/>
        </p:xfrm>
        <a:graphic>
          <a:graphicData uri="http://schemas.openxmlformats.org/drawingml/2006/table">
            <a:tbl>
              <a:tblPr/>
              <a:tblGrid>
                <a:gridCol w="2377440"/>
                <a:gridCol w="3200400"/>
                <a:gridCol w="4846320"/>
              </a:tblGrid>
              <a:tr h="404949">
                <a:tc>
                  <a:txBody>
                    <a:bodyPr/>
                    <a:lstStyle/>
                    <a:p>
                      <a:pPr marL="0" indent="0" algn="l">
                        <a:buNone/>
                      </a:pPr>
                      <a:r>
                        <a:rPr lang="en-US" sz="1200" b="1" dirty="0">
                          <a:solidFill>
                            <a:srgbClr val="FFFFFF"/>
                          </a:solidFill>
                          <a:latin typeface="Aptos" charset="0"/>
                          <a:ea typeface="Aptos" pitchFamily="34" charset="-122"/>
                          <a:cs typeface="Aptos" pitchFamily="34" charset="-120"/>
                        </a:rPr>
                        <a:t>Category</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c>
                  <a:txBody>
                    <a:bodyPr/>
                    <a:lstStyle/>
                    <a:p>
                      <a:pPr marL="0" indent="0" algn="l">
                        <a:buNone/>
                      </a:pPr>
                      <a:r>
                        <a:rPr lang="en-US" sz="1200" b="1" dirty="0">
                          <a:solidFill>
                            <a:srgbClr val="FFFFFF"/>
                          </a:solidFill>
                          <a:latin typeface="Aptos" charset="0"/>
                          <a:ea typeface="Aptos" pitchFamily="34" charset="-122"/>
                          <a:cs typeface="Aptos" pitchFamily="34" charset="-120"/>
                        </a:rPr>
                        <a:t>Technology</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c>
                  <a:txBody>
                    <a:bodyPr/>
                    <a:lstStyle/>
                    <a:p>
                      <a:pPr marL="0" indent="0" algn="l">
                        <a:buNone/>
                      </a:pPr>
                      <a:r>
                        <a:rPr lang="en-US" sz="1200" b="1" dirty="0">
                          <a:solidFill>
                            <a:srgbClr val="FFFFFF"/>
                          </a:solidFill>
                          <a:latin typeface="Aptos" charset="0"/>
                          <a:ea typeface="Aptos" pitchFamily="34" charset="-122"/>
                          <a:cs typeface="Aptos" pitchFamily="34" charset="-120"/>
                        </a:rPr>
                        <a:t>Notes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Frontend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React Native</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Backend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FastAPI / Python</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OCR</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PaddleOCR</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Extracts text from ingredient labels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NLP</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Named Entity Recognition</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Identifies ingredient entities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Allergen matching</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Synonym-based mapping</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Links ingredient names to allergen categories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Product data</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OpenFoodFacts / API-based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Barcode → product information lookup</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8" name="Shape 4"/>
          <p:cNvSpPr/>
          <p:nvPr/>
        </p:nvSpPr>
        <p:spPr>
          <a:xfrm>
            <a:off x="838048" y="5212080"/>
            <a:ext cx="10424160" cy="868680"/>
          </a:xfrm>
          <a:prstGeom prst="roundRect">
            <a:avLst>
              <a:gd name="adj" fmla="val 6316"/>
            </a:avLst>
          </a:prstGeom>
          <a:solidFill>
            <a:srgbClr val="B46E00"/>
          </a:solidFill>
        </p:spPr>
      </p:sp>
      <p:sp>
        <p:nvSpPr>
          <p:cNvPr id="9" name="Text 5"/>
          <p:cNvSpPr/>
          <p:nvPr/>
        </p:nvSpPr>
        <p:spPr>
          <a:xfrm>
            <a:off x="1005840" y="5257800"/>
            <a:ext cx="10058400" cy="777240"/>
          </a:xfrm>
          <a:prstGeom prst="rect">
            <a:avLst/>
          </a:prstGeom>
          <a:noFill/>
        </p:spPr>
        <p:txBody>
          <a:bodyPr wrap="square" lIns="0" tIns="0" rIns="0" bIns="0" rtlCol="0" anchor="ctr"/>
          <a:lstStyle/>
          <a:p>
            <a:pPr marL="0" indent="0" algn="l">
              <a:buNone/>
            </a:pPr>
            <a:r>
              <a:rPr lang="en-US" sz="1300" b="1" dirty="0">
                <a:solidFill>
                  <a:srgbClr val="FFFFFF"/>
                </a:solidFill>
                <a:latin typeface="Aptos" charset="0"/>
                <a:ea typeface="Aptos" pitchFamily="34" charset="-122"/>
                <a:cs typeface="Aptos" pitchFamily="34" charset="-120"/>
              </a:rPr>
              <a:t>TO CONFIRM  —  </a:t>
            </a:r>
            <a:r>
              <a:rPr lang="en-US" sz="1200" dirty="0">
                <a:solidFill>
                  <a:srgbClr val="FFFFFF"/>
                </a:solidFill>
                <a:latin typeface="Aptos" charset="0"/>
                <a:ea typeface="Aptos" pitchFamily="34" charset="-122"/>
                <a:cs typeface="Aptos" pitchFamily="34" charset="-120"/>
              </a:rPr>
              <a:t>Database and translation-service providers are not finalized in the source material; confirm the exact choice against the original proposal before presenting.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935" y="365125"/>
            <a:ext cx="10476865" cy="799465"/>
          </a:xfrm>
        </p:spPr>
        <p:txBody>
          <a:bodyPr/>
          <a:lstStyle/>
          <a:p>
            <a:r>
              <a:rPr sz="3200" b="1"/>
              <a:t>Project Timeline</a:t>
            </a:r>
            <a:endParaRPr sz="3200" b="1"/>
          </a:p>
        </p:txBody>
      </p:sp>
      <p:graphicFrame>
        <p:nvGraphicFramePr>
          <p:cNvPr id="6" name="Table 6"/>
          <p:cNvGraphicFramePr>
            <a:graphicFrameLocks noGrp="1"/>
          </p:cNvGraphicFramePr>
          <p:nvPr>
            <p:ph idx="1"/>
            <p:custDataLst>
              <p:tags r:id="rId1"/>
            </p:custDataLst>
          </p:nvPr>
        </p:nvGraphicFramePr>
        <p:xfrm>
          <a:off x="876300" y="1068705"/>
          <a:ext cx="10614660" cy="5248275"/>
        </p:xfrm>
        <a:graphic>
          <a:graphicData uri="http://schemas.openxmlformats.org/drawingml/2006/table">
            <a:tbl>
              <a:tblPr firstRow="1" bandRow="1">
                <a:tableStyleId>{5C22544A-7EE6-4342-B048-85BDC9FD1C3A}</a:tableStyleId>
              </a:tblPr>
              <a:tblGrid>
                <a:gridCol w="467360"/>
                <a:gridCol w="4467225"/>
                <a:gridCol w="472440"/>
                <a:gridCol w="473393"/>
                <a:gridCol w="318"/>
                <a:gridCol w="473075"/>
                <a:gridCol w="473552"/>
                <a:gridCol w="159"/>
                <a:gridCol w="473075"/>
                <a:gridCol w="318"/>
                <a:gridCol w="473393"/>
                <a:gridCol w="159"/>
                <a:gridCol w="473552"/>
                <a:gridCol w="473075"/>
                <a:gridCol w="635"/>
                <a:gridCol w="472440"/>
                <a:gridCol w="513078"/>
                <a:gridCol w="434343"/>
                <a:gridCol w="473075"/>
              </a:tblGrid>
              <a:tr h="378460">
                <a:tc>
                  <a:txBody>
                    <a:bodyPr/>
                    <a:lstStyle/>
                    <a:p>
                      <a:endParaRPr 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17">
                  <a:txBody>
                    <a:bodyPr/>
                    <a:lstStyle/>
                    <a:p>
                      <a:pPr algn="ctr"/>
                      <a:r>
                        <a:rPr lang="en-US" dirty="0">
                          <a:solidFill>
                            <a:schemeClr val="tx1"/>
                          </a:solidFill>
                        </a:rPr>
                        <a:t>Months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20000"/>
                        <a:lumOff val="80000"/>
                      </a:schemeClr>
                    </a:solidFill>
                  </a:tcPr>
                </a:tc>
              </a:tr>
              <a:tr h="378460">
                <a:tc gridSpan="2">
                  <a:txBody>
                    <a:bodyPr/>
                    <a:lstStyle/>
                    <a:p>
                      <a:r>
                        <a:rPr lang="en-US" dirty="0">
                          <a:solidFill>
                            <a:schemeClr val="tx1"/>
                          </a:solidFill>
                        </a:rPr>
                        <a:t>Tasks /Activity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2</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3</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4</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5</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6</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7</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8</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9</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12</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78460">
                <a:tc>
                  <a:txBody>
                    <a:bodyPr/>
                    <a:lstStyle/>
                    <a:p>
                      <a:r>
                        <a:rPr sz="1100"/>
                        <a:t>1</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Project planning &amp; requirements</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800" b="1"/>
                        <a:t/>
                      </a: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2</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Literature study</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3</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System architecture/design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4</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Dataset/product data preparation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9095">
                <a:tc>
                  <a:txBody>
                    <a:bodyPr/>
                    <a:lstStyle/>
                    <a:p>
                      <a:r>
                        <a:rPr sz="1100"/>
                        <a:t>5</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Barcode module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6</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OCR module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7</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Translation &amp; language processing</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8</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NER/ingredient recognition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9</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Allergen matching &amp; synonym mapping</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10</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Mobile/backend integration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11</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Testing &amp; evaluation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12</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Documentation/thesis/defense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bl>
          </a:graphicData>
        </a:graphic>
      </p:graphicFrame>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pic>
        <p:nvPicPr>
          <p:cNvPr id="8" name="Superior University Logo"/>
          <p:cNvPicPr>
            <a:picLocks noChangeAspect="1"/>
          </p:cNvPicPr>
          <p:nvPr/>
        </p:nvPicPr>
        <p:blipFill>
          <a:blip r:embed="rId2"/>
          <a:stretch>
            <a:fillRect/>
          </a:stretch>
        </p:blipFill>
        <p:spPr>
          <a:xfrm>
            <a:off x="11353800" y="230188"/>
            <a:ext cx="731520" cy="731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References</a:t>
            </a:r>
            <a:endParaRPr sz="3200" b="1"/>
          </a:p>
        </p:txBody>
      </p:sp>
      <p:sp>
        <p:nvSpPr>
          <p:cNvPr id="3" name="Content Placeholder 2"/>
          <p:cNvSpPr>
            <a:spLocks noGrp="1"/>
          </p:cNvSpPr>
          <p:nvPr>
            <p:ph idx="1"/>
          </p:nvPr>
        </p:nvSpPr>
        <p:spPr/>
        <p:txBody>
          <a:bodyPr wrap="square"/>
          <a:lstStyle/>
          <a:p>
            <a:pPr>
              <a:spcAft>
                <a:spcPts val="300"/>
              </a:spcAft>
            </a:pPr>
            <a:r>
              <a:rPr sz="1250" b="0">
                <a:solidFill>
                  <a:srgbClr val="1F1F1F"/>
                </a:solidFill>
              </a:rPr>
              <a:t>[1] G. Gerganov et al., "llama.cpp: LLM inference in C/C++," GitHub repository, 2026. [Online]. Available: https://github.com/ggml-org/llama.cpp</a:t>
            </a:r>
            <a:endParaRPr sz="1250" b="0">
              <a:solidFill>
                <a:srgbClr val="1F1F1F"/>
              </a:solidFill>
            </a:endParaRPr>
          </a:p>
          <a:p>
            <a:pPr>
              <a:spcAft>
                <a:spcPts val="300"/>
              </a:spcAft>
            </a:pPr>
            <a:r>
              <a:rPr sz="1250" b="0">
                <a:solidFill>
                  <a:srgbClr val="1F1F1F"/>
                </a:solidFill>
              </a:rPr>
              <a:t>[2] Y. Chen et al., "SkillDroid: Compile Once, Reuse Forever — Skill Compilation for Mobile GUI Agents," arXiv:2604.14872, Apr. 2026.</a:t>
            </a:r>
            <a:endParaRPr sz="1250" b="0">
              <a:solidFill>
                <a:srgbClr val="1F1F1F"/>
              </a:solidFill>
            </a:endParaRPr>
          </a:p>
          <a:p>
            <a:pPr>
              <a:spcAft>
                <a:spcPts val="300"/>
              </a:spcAft>
            </a:pPr>
            <a:r>
              <a:rPr sz="1250" b="0">
                <a:solidFill>
                  <a:srgbClr val="1F1F1F"/>
                </a:solidFill>
              </a:rPr>
              <a:t>[3] Zhipu AI, "AutoGLM: Autonomous Foundation Agents for GUIs," arXiv:2411.00820, 2024.</a:t>
            </a:r>
            <a:endParaRPr sz="1250" b="0">
              <a:solidFill>
                <a:srgbClr val="1F1F1F"/>
              </a:solidFill>
            </a:endParaRPr>
          </a:p>
          <a:p>
            <a:pPr>
              <a:spcAft>
                <a:spcPts val="300"/>
              </a:spcAft>
            </a:pPr>
            <a:r>
              <a:rPr sz="1250" b="0">
                <a:solidFill>
                  <a:srgbClr val="1F1F1F"/>
                </a:solidFill>
              </a:rPr>
              <a:t>[4] H. Wen et al., "AutoDroid: LLM-powered Task Automation in Android," in Proc. ACM MobiCom, 2024.</a:t>
            </a:r>
            <a:endParaRPr sz="1250" b="0">
              <a:solidFill>
                <a:srgbClr val="1F1F1F"/>
              </a:solidFill>
            </a:endParaRPr>
          </a:p>
          <a:p>
            <a:pPr>
              <a:spcAft>
                <a:spcPts val="300"/>
              </a:spcAft>
            </a:pPr>
            <a:r>
              <a:rPr sz="1250" b="0">
                <a:solidFill>
                  <a:srgbClr val="1F1F1F"/>
                </a:solidFill>
              </a:rPr>
              <a:t>[5] Google DeepMind, "Gemma 3: Lightweight Open Models for On-Device AI," Technical Report, 2025.</a:t>
            </a:r>
            <a:endParaRPr sz="1250" b="0">
              <a:solidFill>
                <a:srgbClr val="1F1F1F"/>
              </a:solidFill>
            </a:endParaRPr>
          </a:p>
          <a:p>
            <a:pPr>
              <a:spcAft>
                <a:spcPts val="300"/>
              </a:spcAft>
            </a:pPr>
            <a:r>
              <a:rPr sz="1250" b="0">
                <a:solidFill>
                  <a:srgbClr val="1F1F1F"/>
                </a:solidFill>
              </a:rPr>
              <a:t>[6] Google, "AccessibilityService — Android Developers," 2026. [Online]. Available: https://developer.android.com/reference/android/accessibilityservice/AccessibilityService</a:t>
            </a:r>
            <a:endParaRPr sz="1250" b="0">
              <a:solidFill>
                <a:srgbClr val="1F1F1F"/>
              </a:solidFill>
            </a:endParaRPr>
          </a:p>
          <a:p>
            <a:pPr>
              <a:spcAft>
                <a:spcPts val="300"/>
              </a:spcAft>
            </a:pPr>
            <a:r>
              <a:rPr sz="1250" b="0">
                <a:solidFill>
                  <a:srgbClr val="1F1F1F"/>
                </a:solidFill>
              </a:rPr>
              <a:t>[7] B. Dong et al., "XGrammar: Flexible and Efficient Structured Generation for LLMs," arXiv:2411.15100, 2024.</a:t>
            </a:r>
            <a:endParaRPr sz="1250" b="0">
              <a:solidFill>
                <a:srgbClr val="1F1F1F"/>
              </a:solidFill>
            </a:endParaRPr>
          </a:p>
          <a:p>
            <a:pPr>
              <a:spcAft>
                <a:spcPts val="300"/>
              </a:spcAft>
            </a:pPr>
            <a:r>
              <a:rPr sz="1250" b="0">
                <a:solidFill>
                  <a:srgbClr val="1F1F1F"/>
                </a:solidFill>
              </a:rPr>
              <a:t>[8] C. Rawles et al., "AndroidWorld: A Dynamic Benchmarking Environment for Autonomous Agents," in Proc. ICLR, 2025.</a:t>
            </a:r>
            <a:endParaRPr sz="1250" b="0">
              <a:solidFill>
                <a:srgbClr val="1F1F1F"/>
              </a:solidFill>
            </a:endParaRPr>
          </a:p>
        </p:txBody>
      </p:sp>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pic>
        <p:nvPicPr>
          <p:cNvPr id="7" name="Superior University Logo"/>
          <p:cNvPicPr>
            <a:picLocks noChangeAspect="1"/>
          </p:cNvPicPr>
          <p:nvPr/>
        </p:nvPicPr>
        <p:blipFill>
          <a:blip r:embed="rId1"/>
          <a:stretch>
            <a:fillRect/>
          </a:stretch>
        </p:blipFill>
        <p:spPr>
          <a:xfrm>
            <a:off x="11353800" y="230188"/>
            <a:ext cx="731520" cy="731520"/>
          </a:xfrm>
          <a:prstGeom prst="rect">
            <a:avLst/>
          </a:prstGeom>
        </p:spPr>
      </p:pic>
    </p:spTree>
  </p:cSld>
  <p:clrMapOvr>
    <a:masterClrMapping/>
  </p:clrMapOvr>
</p:sld>
</file>

<file path=ppt/tags/tag1.xml><?xml version="1.0" encoding="utf-8"?>
<p:tagLst xmlns:p="http://schemas.openxmlformats.org/presentationml/2006/main">
  <p:tag name="TABLE_ENDDRAG_ORIGIN_RECT" val="835*410"/>
  <p:tag name="TABLE_ENDDRAG_RECT" val="69*84*835*41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7376</Words>
  <Application>WPS Presentation</Application>
  <PresentationFormat>Widescreen</PresentationFormat>
  <Paragraphs>495</Paragraphs>
  <Slides>13</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Segoe UI</vt:lpstr>
      <vt:lpstr>Georgia</vt:lpstr>
      <vt:lpstr>Aptos</vt:lpstr>
      <vt:lpstr>Microsoft YaHei</vt:lpstr>
      <vt:lpstr>Arial Unicode MS</vt:lpstr>
      <vt:lpstr>Aptos Display</vt:lpstr>
      <vt:lpstr>Segoe UI Variable Display</vt:lpstr>
      <vt:lpstr>Calibri</vt:lpstr>
      <vt:lpstr>Aptos</vt:lpstr>
      <vt:lpstr>Aptos</vt:lpstr>
      <vt:lpstr>Office Theme</vt:lpstr>
      <vt:lpstr>PowerPoint 演示文稿</vt:lpstr>
      <vt:lpstr>Introduction</vt:lpstr>
      <vt:lpstr>Background</vt:lpstr>
      <vt:lpstr>Problem Statement</vt:lpstr>
      <vt:lpstr>Aims &amp; Objectives</vt:lpstr>
      <vt:lpstr>Literature Study</vt:lpstr>
      <vt:lpstr>PowerPoint 演示文稿</vt:lpstr>
      <vt:lpstr>PowerPoint 演示文稿</vt:lpstr>
      <vt:lpstr>PowerPoint 演示文稿</vt:lpstr>
      <vt:lpstr>PowerPoint 演示文稿</vt:lpstr>
      <vt:lpstr>PowerPoint 演示文稿</vt:lpstr>
      <vt:lpstr>Project Timeline</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Engr. Hamza Toor</dc:creator>
  <cp:lastModifiedBy>Faisal</cp:lastModifiedBy>
  <cp:revision>23</cp:revision>
  <dcterms:created xsi:type="dcterms:W3CDTF">2022-08-08T19:13:00Z</dcterms:created>
  <dcterms:modified xsi:type="dcterms:W3CDTF">2026-08-17T21:44:32Z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219A0B147C1F48388D43C910CD01FA7D_13</vt:lpwstr>
  </property>
</Properties>
</file>
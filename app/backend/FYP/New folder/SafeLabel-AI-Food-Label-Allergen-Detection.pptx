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arlow"/>
      <p:regular r:id="rId201314"/>
    </p:embeddedFont>
    <p:embeddedFont>
      <p:font typeface="Barlow Medium"/>
      <p:regular r:id="rId201315"/>
    </p:embeddedFont>
    <p:embeddedFont>
      <p:font typeface="Barlow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917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pic>
        <p:nvPicPr>
          <p:cNvPr id="3" name="Image 1" descr="preencoded.png">    </p:cNvPr>
          <p:cNvPicPr>
            <a:picLocks noChangeAspect="1"/>
          </p:cNvPicPr>
          <p:nvPr/>
        </p:nvPicPr>
        <p:blipFill>
          <a:blip r:embed="rId2"/>
          <a:stretch>
            <a:fillRect/>
          </a:stretch>
        </p:blipFill>
        <p:spPr>
          <a:xfrm>
            <a:off x="1019150" y="2162175"/>
            <a:ext cx="2533587" cy="2533650"/>
          </a:xfrm>
          <a:prstGeom prst="rect">
            <a:avLst/>
          </a:prstGeom>
        </p:spPr>
      </p:pic>
      <p:sp>
        <p:nvSpPr>
          <p:cNvPr id="4" name="Text 0"/>
          <p:cNvSpPr/>
          <p:nvPr/>
        </p:nvSpPr>
        <p:spPr>
          <a:xfrm>
            <a:off x="5306086" y="952698"/>
            <a:ext cx="6151409" cy="874117"/>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FFFFF"/>
                </a:solidFill>
                <a:latin typeface="Barlow Medium" pitchFamily="34" charset="0"/>
                <a:ea typeface="Barlow Medium" pitchFamily="34" charset="-122"/>
                <a:cs typeface="Barlow Medium" pitchFamily="34" charset="-120"/>
              </a:rPr>
              <a:t>SafeLabel AI — Food Label Allergen Detection</a:t>
            </a:r>
            <a:endParaRPr lang="en-US" sz="2750" dirty="0"/>
          </a:p>
        </p:txBody>
      </p:sp>
      <p:sp>
        <p:nvSpPr>
          <p:cNvPr id="5" name="Text 1"/>
          <p:cNvSpPr/>
          <p:nvPr/>
        </p:nvSpPr>
        <p:spPr>
          <a:xfrm>
            <a:off x="5306086" y="2003822"/>
            <a:ext cx="6151409" cy="660797"/>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 </a:t>
            </a:r>
            <a:pPr algn="l" indent="0" marL="0">
              <a:lnSpc>
                <a:spcPct val="117000"/>
              </a:lnSpc>
              <a:buNone/>
            </a:pPr>
            <a:r>
              <a:rPr lang="en-US" sz="1200" b="1" dirty="0">
                <a:solidFill>
                  <a:srgbClr val="E5E0DF"/>
                </a:solidFill>
                <a:latin typeface="Barlow Bold" pitchFamily="34" charset="0"/>
                <a:ea typeface="Barlow Bold" pitchFamily="34" charset="-122"/>
                <a:cs typeface="Barlow Bold" pitchFamily="34" charset="-120"/>
              </a:rPr>
              <a:t>Keywords:</a:t>
            </a:r>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 Artificial Intelligence · OCR · NLP · Named Entity Recognition · Allergen Detection · Ingredient Recognition · Multilingual Translation · Barcode Scanning · Personalized Allergy Profiles </a:t>
            </a:r>
            <a:endParaRPr lang="en-US" sz="1200" dirty="0"/>
          </a:p>
        </p:txBody>
      </p:sp>
      <p:sp>
        <p:nvSpPr>
          <p:cNvPr id="6" name="Shape 2"/>
          <p:cNvSpPr/>
          <p:nvPr/>
        </p:nvSpPr>
        <p:spPr>
          <a:xfrm>
            <a:off x="5306086" y="2797373"/>
            <a:ext cx="3016671" cy="1056977"/>
          </a:xfrm>
          <a:prstGeom prst="roundRect">
            <a:avLst>
              <a:gd name="adj" fmla="val 6252"/>
            </a:avLst>
          </a:prstGeom>
          <a:solidFill>
            <a:srgbClr val="790709"/>
          </a:solidFill>
          <a:ln w="6350">
            <a:solidFill>
              <a:srgbClr val="922022"/>
            </a:solidFill>
            <a:prstDash val="solid"/>
          </a:ln>
        </p:spPr>
      </p:sp>
      <p:sp>
        <p:nvSpPr>
          <p:cNvPr id="7" name="Text 3"/>
          <p:cNvSpPr/>
          <p:nvPr/>
        </p:nvSpPr>
        <p:spPr>
          <a:xfrm>
            <a:off x="5469694" y="2960985"/>
            <a:ext cx="2689455" cy="218480"/>
          </a:xfrm>
          <a:prstGeom prst="rect">
            <a:avLst/>
          </a:prstGeom>
          <a:noFill/>
          <a:ln/>
        </p:spPr>
        <p:txBody>
          <a:bodyPr wrap="none" lIns="0" tIns="0" rIns="0" bIns="0" rtlCol="0" anchor="t"/>
          <a:lstStyle/>
          <a:p>
            <a:pPr algn="l" indent="0" marL="0">
              <a:lnSpc>
                <a:spcPct val="104000"/>
              </a:lnSpc>
              <a:buNone/>
            </a:pPr>
            <a:r>
              <a:rPr lang="en-US" sz="1350" dirty="0">
                <a:solidFill>
                  <a:srgbClr val="E5E0DF"/>
                </a:solidFill>
                <a:latin typeface="Barlow Medium" pitchFamily="34" charset="0"/>
                <a:ea typeface="Barlow Medium" pitchFamily="34" charset="-122"/>
                <a:cs typeface="Barlow Medium" pitchFamily="34" charset="-120"/>
              </a:rPr>
              <a:t>Institution</a:t>
            </a:r>
            <a:endParaRPr lang="en-US" sz="1350" dirty="0"/>
          </a:p>
        </p:txBody>
      </p:sp>
      <p:sp>
        <p:nvSpPr>
          <p:cNvPr id="8" name="Text 4"/>
          <p:cNvSpPr/>
          <p:nvPr/>
        </p:nvSpPr>
        <p:spPr>
          <a:xfrm>
            <a:off x="5469694" y="3250208"/>
            <a:ext cx="2689455"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Superior University — Department of Computer Science, FCS&amp;IT</a:t>
            </a:r>
            <a:endParaRPr lang="en-US" sz="1200" dirty="0"/>
          </a:p>
        </p:txBody>
      </p:sp>
      <p:sp>
        <p:nvSpPr>
          <p:cNvPr id="9" name="Shape 5"/>
          <p:cNvSpPr/>
          <p:nvPr/>
        </p:nvSpPr>
        <p:spPr>
          <a:xfrm>
            <a:off x="8440725" y="2797373"/>
            <a:ext cx="3016770" cy="1056977"/>
          </a:xfrm>
          <a:prstGeom prst="roundRect">
            <a:avLst>
              <a:gd name="adj" fmla="val 6252"/>
            </a:avLst>
          </a:prstGeom>
          <a:solidFill>
            <a:srgbClr val="790709"/>
          </a:solidFill>
          <a:ln w="6350">
            <a:solidFill>
              <a:srgbClr val="922022"/>
            </a:solidFill>
            <a:prstDash val="solid"/>
          </a:ln>
        </p:spPr>
      </p:sp>
      <p:sp>
        <p:nvSpPr>
          <p:cNvPr id="10" name="Text 6"/>
          <p:cNvSpPr/>
          <p:nvPr/>
        </p:nvSpPr>
        <p:spPr>
          <a:xfrm>
            <a:off x="8604332" y="2960985"/>
            <a:ext cx="2689555" cy="218480"/>
          </a:xfrm>
          <a:prstGeom prst="rect">
            <a:avLst/>
          </a:prstGeom>
          <a:noFill/>
          <a:ln/>
        </p:spPr>
        <p:txBody>
          <a:bodyPr wrap="none" lIns="0" tIns="0" rIns="0" bIns="0" rtlCol="0" anchor="t"/>
          <a:lstStyle/>
          <a:p>
            <a:pPr algn="l" indent="0" marL="0">
              <a:lnSpc>
                <a:spcPct val="104000"/>
              </a:lnSpc>
              <a:buNone/>
            </a:pPr>
            <a:r>
              <a:rPr lang="en-US" sz="1350" dirty="0">
                <a:solidFill>
                  <a:srgbClr val="E5E0DF"/>
                </a:solidFill>
                <a:latin typeface="Barlow Medium" pitchFamily="34" charset="0"/>
                <a:ea typeface="Barlow Medium" pitchFamily="34" charset="-122"/>
                <a:cs typeface="Barlow Medium" pitchFamily="34" charset="-120"/>
              </a:rPr>
              <a:t>Course</a:t>
            </a:r>
            <a:endParaRPr lang="en-US" sz="1350" dirty="0"/>
          </a:p>
        </p:txBody>
      </p:sp>
      <p:sp>
        <p:nvSpPr>
          <p:cNvPr id="11" name="Text 7"/>
          <p:cNvSpPr/>
          <p:nvPr/>
        </p:nvSpPr>
        <p:spPr>
          <a:xfrm>
            <a:off x="8604332" y="3250208"/>
            <a:ext cx="2689555"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Bachelor of Science in Computer Science — Final Year Project</a:t>
            </a:r>
            <a:endParaRPr lang="en-US" sz="1200" dirty="0"/>
          </a:p>
        </p:txBody>
      </p:sp>
      <p:sp>
        <p:nvSpPr>
          <p:cNvPr id="12" name="Shape 8"/>
          <p:cNvSpPr/>
          <p:nvPr/>
        </p:nvSpPr>
        <p:spPr>
          <a:xfrm>
            <a:off x="5306086" y="3972322"/>
            <a:ext cx="3016671" cy="1056977"/>
          </a:xfrm>
          <a:prstGeom prst="roundRect">
            <a:avLst>
              <a:gd name="adj" fmla="val 6252"/>
            </a:avLst>
          </a:prstGeom>
          <a:solidFill>
            <a:srgbClr val="790709"/>
          </a:solidFill>
          <a:ln w="6350">
            <a:solidFill>
              <a:srgbClr val="922022"/>
            </a:solidFill>
            <a:prstDash val="solid"/>
          </a:ln>
        </p:spPr>
      </p:sp>
      <p:sp>
        <p:nvSpPr>
          <p:cNvPr id="13" name="Text 9"/>
          <p:cNvSpPr/>
          <p:nvPr/>
        </p:nvSpPr>
        <p:spPr>
          <a:xfrm>
            <a:off x="5469694" y="4135934"/>
            <a:ext cx="2689455" cy="218480"/>
          </a:xfrm>
          <a:prstGeom prst="rect">
            <a:avLst/>
          </a:prstGeom>
          <a:noFill/>
          <a:ln/>
        </p:spPr>
        <p:txBody>
          <a:bodyPr wrap="none" lIns="0" tIns="0" rIns="0" bIns="0" rtlCol="0" anchor="t"/>
          <a:lstStyle/>
          <a:p>
            <a:pPr algn="l" indent="0" marL="0">
              <a:lnSpc>
                <a:spcPct val="104000"/>
              </a:lnSpc>
              <a:buNone/>
            </a:pPr>
            <a:r>
              <a:rPr lang="en-US" sz="1350" dirty="0">
                <a:solidFill>
                  <a:srgbClr val="E5E0DF"/>
                </a:solidFill>
                <a:latin typeface="Barlow Medium" pitchFamily="34" charset="0"/>
                <a:ea typeface="Barlow Medium" pitchFamily="34" charset="-122"/>
                <a:cs typeface="Barlow Medium" pitchFamily="34" charset="-120"/>
              </a:rPr>
              <a:t>Group</a:t>
            </a:r>
            <a:endParaRPr lang="en-US" sz="1350" dirty="0"/>
          </a:p>
        </p:txBody>
      </p:sp>
      <p:sp>
        <p:nvSpPr>
          <p:cNvPr id="14" name="Text 10"/>
          <p:cNvSpPr/>
          <p:nvPr/>
        </p:nvSpPr>
        <p:spPr>
          <a:xfrm>
            <a:off x="5469694" y="4425156"/>
            <a:ext cx="2689455"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BSCS-1 — Student names &amp; SAP IDs: not verifiable in project file (left blank)</a:t>
            </a:r>
            <a:endParaRPr lang="en-US" sz="1200" dirty="0"/>
          </a:p>
        </p:txBody>
      </p:sp>
      <p:sp>
        <p:nvSpPr>
          <p:cNvPr id="15" name="Shape 11"/>
          <p:cNvSpPr/>
          <p:nvPr/>
        </p:nvSpPr>
        <p:spPr>
          <a:xfrm>
            <a:off x="8440725" y="3972322"/>
            <a:ext cx="3016770" cy="1056977"/>
          </a:xfrm>
          <a:prstGeom prst="roundRect">
            <a:avLst>
              <a:gd name="adj" fmla="val 6252"/>
            </a:avLst>
          </a:prstGeom>
          <a:solidFill>
            <a:srgbClr val="790709"/>
          </a:solidFill>
          <a:ln w="6350">
            <a:solidFill>
              <a:srgbClr val="922022"/>
            </a:solidFill>
            <a:prstDash val="solid"/>
          </a:ln>
        </p:spPr>
      </p:sp>
      <p:sp>
        <p:nvSpPr>
          <p:cNvPr id="16" name="Text 12"/>
          <p:cNvSpPr/>
          <p:nvPr/>
        </p:nvSpPr>
        <p:spPr>
          <a:xfrm>
            <a:off x="8604332" y="4135934"/>
            <a:ext cx="2689555" cy="218480"/>
          </a:xfrm>
          <a:prstGeom prst="rect">
            <a:avLst/>
          </a:prstGeom>
          <a:noFill/>
          <a:ln/>
        </p:spPr>
        <p:txBody>
          <a:bodyPr wrap="none" lIns="0" tIns="0" rIns="0" bIns="0" rtlCol="0" anchor="t"/>
          <a:lstStyle/>
          <a:p>
            <a:pPr algn="l" indent="0" marL="0">
              <a:lnSpc>
                <a:spcPct val="104000"/>
              </a:lnSpc>
              <a:buNone/>
            </a:pPr>
            <a:r>
              <a:rPr lang="en-US" sz="1350" dirty="0">
                <a:solidFill>
                  <a:srgbClr val="E5E0DF"/>
                </a:solidFill>
                <a:latin typeface="Barlow Medium" pitchFamily="34" charset="0"/>
                <a:ea typeface="Barlow Medium" pitchFamily="34" charset="-122"/>
                <a:cs typeface="Barlow Medium" pitchFamily="34" charset="-120"/>
              </a:rPr>
              <a:t>Supervisor</a:t>
            </a:r>
            <a:endParaRPr lang="en-US" sz="1350" dirty="0"/>
          </a:p>
        </p:txBody>
      </p:sp>
      <p:sp>
        <p:nvSpPr>
          <p:cNvPr id="17" name="Text 13"/>
          <p:cNvSpPr/>
          <p:nvPr/>
        </p:nvSpPr>
        <p:spPr>
          <a:xfrm>
            <a:off x="8604332" y="4425156"/>
            <a:ext cx="2689555"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5E0DF"/>
                </a:solidFill>
                <a:latin typeface="Barlow" pitchFamily="34" charset="0"/>
                <a:ea typeface="Barlow" pitchFamily="34" charset="-122"/>
                <a:cs typeface="Barlow" pitchFamily="34" charset="-120"/>
              </a:rPr>
              <a:t>Not verifiable in uploaded materials — left blank to avoid inventing details</a:t>
            </a:r>
            <a:endParaRPr lang="en-US" sz="1200" dirty="0"/>
          </a:p>
        </p:txBody>
      </p:sp>
      <p:sp>
        <p:nvSpPr>
          <p:cNvPr id="18" name="Shape 14"/>
          <p:cNvSpPr/>
          <p:nvPr/>
        </p:nvSpPr>
        <p:spPr>
          <a:xfrm>
            <a:off x="5306086" y="5162054"/>
            <a:ext cx="6151409" cy="743248"/>
          </a:xfrm>
          <a:prstGeom prst="roundRect">
            <a:avLst>
              <a:gd name="adj" fmla="val 8892"/>
            </a:avLst>
          </a:prstGeom>
          <a:solidFill>
            <a:srgbClr val="790709"/>
          </a:solidFill>
          <a:ln/>
        </p:spPr>
      </p:sp>
      <p:pic>
        <p:nvPicPr>
          <p:cNvPr id="19" name="Image 2" descr="preencoded.png">    </p:cNvPr>
          <p:cNvPicPr>
            <a:picLocks noChangeAspect="1"/>
          </p:cNvPicPr>
          <p:nvPr/>
        </p:nvPicPr>
        <p:blipFill>
          <a:blip r:embed="rId3"/>
          <a:stretch>
            <a:fillRect/>
          </a:stretch>
        </p:blipFill>
        <p:spPr>
          <a:xfrm>
            <a:off x="5463344" y="5334099"/>
            <a:ext cx="196647" cy="157262"/>
          </a:xfrm>
          <a:prstGeom prst="rect">
            <a:avLst/>
          </a:prstGeom>
        </p:spPr>
      </p:pic>
      <p:sp>
        <p:nvSpPr>
          <p:cNvPr id="20" name="Text 15"/>
          <p:cNvSpPr/>
          <p:nvPr/>
        </p:nvSpPr>
        <p:spPr>
          <a:xfrm>
            <a:off x="5817248" y="5319316"/>
            <a:ext cx="5482989"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arlow" pitchFamily="34" charset="0"/>
                <a:ea typeface="Barlow" pitchFamily="34" charset="-122"/>
                <a:cs typeface="Barlow" pitchFamily="34" charset="-120"/>
              </a:rPr>
              <a:t>Template conformity: names, IDs and supervisor were not readable in the project file and are intentionally omitted per instructions.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306086" y="961628"/>
            <a:ext cx="6151409" cy="495300"/>
          </a:xfrm>
          <a:prstGeom prst="rect">
            <a:avLst/>
          </a:prstGeom>
          <a:noFill/>
          <a:ln/>
        </p:spPr>
        <p:txBody>
          <a:bodyPr wrap="none" lIns="0" tIns="0" rIns="0" bIns="0" rtlCol="0" anchor="t"/>
          <a:lstStyle/>
          <a:p>
            <a:pPr algn="l" indent="0" marL="0">
              <a:lnSpc>
                <a:spcPct val="104000"/>
              </a:lnSpc>
              <a:buNone/>
            </a:pPr>
            <a:r>
              <a:rPr lang="en-US" sz="3100" dirty="0">
                <a:solidFill>
                  <a:srgbClr val="FFFFFF"/>
                </a:solidFill>
                <a:latin typeface="Barlow Medium" pitchFamily="34" charset="0"/>
                <a:ea typeface="Barlow Medium" pitchFamily="34" charset="-122"/>
                <a:cs typeface="Barlow Medium" pitchFamily="34" charset="-120"/>
              </a:rPr>
              <a:t>Introduction</a:t>
            </a:r>
            <a:endParaRPr lang="en-US" sz="3100" dirty="0"/>
          </a:p>
        </p:txBody>
      </p:sp>
      <p:sp>
        <p:nvSpPr>
          <p:cNvPr id="4" name="Text 1"/>
          <p:cNvSpPr/>
          <p:nvPr/>
        </p:nvSpPr>
        <p:spPr>
          <a:xfrm>
            <a:off x="5306086" y="1684238"/>
            <a:ext cx="6151409" cy="1055291"/>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 SafeLabel AI helps users identify potential allergens on packaged foods when labels are unfamiliar or in another language. Within seconds the app converts camera input or barcode scans into structured ingredient data, highlights possible allergens relative to a user profile, and explains uncertain matches. </a:t>
            </a:r>
            <a:endParaRPr lang="en-US" sz="1400" dirty="0"/>
          </a:p>
        </p:txBody>
      </p:sp>
      <p:sp>
        <p:nvSpPr>
          <p:cNvPr id="5" name="Text 2"/>
          <p:cNvSpPr/>
          <p:nvPr/>
        </p:nvSpPr>
        <p:spPr>
          <a:xfrm>
            <a:off x="5306086" y="2909987"/>
            <a:ext cx="356583" cy="222845"/>
          </a:xfrm>
          <a:prstGeom prst="rect">
            <a:avLst/>
          </a:prstGeom>
          <a:noFill/>
          <a:ln/>
        </p:spPr>
        <p:txBody>
          <a:bodyPr wrap="none" lIns="0" tIns="0" rIns="0" bIns="0" rtlCol="0" anchor="ctr"/>
          <a:lstStyle/>
          <a:p>
            <a:pPr algn="l" indent="0" marL="0">
              <a:lnSpc>
                <a:spcPct val="100000"/>
              </a:lnSpc>
              <a:buNone/>
            </a:pPr>
            <a:r>
              <a:rPr lang="en-US" sz="1400" dirty="0">
                <a:solidFill>
                  <a:srgbClr val="E5E0DF"/>
                </a:solidFill>
                <a:latin typeface="Barlow Light" pitchFamily="34" charset="0"/>
                <a:ea typeface="Barlow Light" pitchFamily="34" charset="-122"/>
                <a:cs typeface="Barlow Light" pitchFamily="34" charset="-120"/>
              </a:rPr>
              <a:t>01</a:t>
            </a:r>
            <a:endParaRPr lang="en-US" sz="1400" dirty="0"/>
          </a:p>
        </p:txBody>
      </p:sp>
      <p:sp>
        <p:nvSpPr>
          <p:cNvPr id="6" name="Shape 3"/>
          <p:cNvSpPr/>
          <p:nvPr/>
        </p:nvSpPr>
        <p:spPr>
          <a:xfrm>
            <a:off x="5306086" y="3187601"/>
            <a:ext cx="6151409" cy="25400"/>
          </a:xfrm>
          <a:prstGeom prst="rect">
            <a:avLst/>
          </a:prstGeom>
          <a:solidFill>
            <a:srgbClr val="F65F62"/>
          </a:solidFill>
          <a:ln/>
        </p:spPr>
      </p:sp>
      <p:sp>
        <p:nvSpPr>
          <p:cNvPr id="7" name="Text 4"/>
          <p:cNvSpPr/>
          <p:nvPr/>
        </p:nvSpPr>
        <p:spPr>
          <a:xfrm>
            <a:off x="5306086" y="3327499"/>
            <a:ext cx="6151409" cy="247650"/>
          </a:xfrm>
          <a:prstGeom prst="rect">
            <a:avLst/>
          </a:prstGeom>
          <a:noFill/>
          <a:ln/>
        </p:spPr>
        <p:txBody>
          <a:bodyPr wrap="none" lIns="0" tIns="0" rIns="0" bIns="0" rtlCol="0" anchor="t"/>
          <a:lstStyle/>
          <a:p>
            <a:pPr algn="l" indent="0" marL="0">
              <a:lnSpc>
                <a:spcPct val="104000"/>
              </a:lnSpc>
              <a:buNone/>
            </a:pPr>
            <a:r>
              <a:rPr lang="en-US" sz="1550" dirty="0">
                <a:solidFill>
                  <a:srgbClr val="E5E0DF"/>
                </a:solidFill>
                <a:latin typeface="Barlow Medium" pitchFamily="34" charset="0"/>
                <a:ea typeface="Barlow Medium" pitchFamily="34" charset="-122"/>
                <a:cs typeface="Barlow Medium" pitchFamily="34" charset="-120"/>
              </a:rPr>
              <a:t>15‑second hook</a:t>
            </a:r>
            <a:endParaRPr lang="en-US" sz="1550" dirty="0"/>
          </a:p>
        </p:txBody>
      </p:sp>
      <p:sp>
        <p:nvSpPr>
          <p:cNvPr id="8" name="Text 5"/>
          <p:cNvSpPr/>
          <p:nvPr/>
        </p:nvSpPr>
        <p:spPr>
          <a:xfrm>
            <a:off x="5306086" y="3666034"/>
            <a:ext cx="6151409"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"What if you are allergic to peanuts but the label is unreadable? SafeLabel AI scans and interprets labels for you."</a:t>
            </a:r>
            <a:endParaRPr lang="en-US" sz="1400" dirty="0"/>
          </a:p>
        </p:txBody>
      </p:sp>
      <p:sp>
        <p:nvSpPr>
          <p:cNvPr id="9" name="Text 6"/>
          <p:cNvSpPr/>
          <p:nvPr/>
        </p:nvSpPr>
        <p:spPr>
          <a:xfrm>
            <a:off x="5306086" y="4478933"/>
            <a:ext cx="356583" cy="222845"/>
          </a:xfrm>
          <a:prstGeom prst="rect">
            <a:avLst/>
          </a:prstGeom>
          <a:noFill/>
          <a:ln/>
        </p:spPr>
        <p:txBody>
          <a:bodyPr wrap="none" lIns="0" tIns="0" rIns="0" bIns="0" rtlCol="0" anchor="ctr"/>
          <a:lstStyle/>
          <a:p>
            <a:pPr algn="l" indent="0" marL="0">
              <a:lnSpc>
                <a:spcPct val="100000"/>
              </a:lnSpc>
              <a:buNone/>
            </a:pPr>
            <a:r>
              <a:rPr lang="en-US" sz="1400" dirty="0">
                <a:solidFill>
                  <a:srgbClr val="E5E0DF"/>
                </a:solidFill>
                <a:latin typeface="Barlow Light" pitchFamily="34" charset="0"/>
                <a:ea typeface="Barlow Light" pitchFamily="34" charset="-122"/>
                <a:cs typeface="Barlow Light" pitchFamily="34" charset="-120"/>
              </a:rPr>
              <a:t>02</a:t>
            </a:r>
            <a:endParaRPr lang="en-US" sz="1400" dirty="0"/>
          </a:p>
        </p:txBody>
      </p:sp>
      <p:sp>
        <p:nvSpPr>
          <p:cNvPr id="10" name="Shape 7"/>
          <p:cNvSpPr/>
          <p:nvPr/>
        </p:nvSpPr>
        <p:spPr>
          <a:xfrm>
            <a:off x="5306086" y="4756547"/>
            <a:ext cx="6151409" cy="25400"/>
          </a:xfrm>
          <a:prstGeom prst="rect">
            <a:avLst/>
          </a:prstGeom>
          <a:solidFill>
            <a:srgbClr val="F65F62"/>
          </a:solidFill>
          <a:ln/>
        </p:spPr>
      </p:sp>
      <p:sp>
        <p:nvSpPr>
          <p:cNvPr id="11" name="Text 8"/>
          <p:cNvSpPr/>
          <p:nvPr/>
        </p:nvSpPr>
        <p:spPr>
          <a:xfrm>
            <a:off x="5306086" y="4896445"/>
            <a:ext cx="6151409" cy="247650"/>
          </a:xfrm>
          <a:prstGeom prst="rect">
            <a:avLst/>
          </a:prstGeom>
          <a:noFill/>
          <a:ln/>
        </p:spPr>
        <p:txBody>
          <a:bodyPr wrap="none" lIns="0" tIns="0" rIns="0" bIns="0" rtlCol="0" anchor="t"/>
          <a:lstStyle/>
          <a:p>
            <a:pPr algn="l" indent="0" marL="0">
              <a:lnSpc>
                <a:spcPct val="104000"/>
              </a:lnSpc>
              <a:buNone/>
            </a:pPr>
            <a:r>
              <a:rPr lang="en-US" sz="1550" dirty="0">
                <a:solidFill>
                  <a:srgbClr val="E5E0DF"/>
                </a:solidFill>
                <a:latin typeface="Barlow Medium" pitchFamily="34" charset="0"/>
                <a:ea typeface="Barlow Medium" pitchFamily="34" charset="-122"/>
                <a:cs typeface="Barlow Medium" pitchFamily="34" charset="-120"/>
              </a:rPr>
              <a:t>Primary goal</a:t>
            </a:r>
            <a:endParaRPr lang="en-US" sz="1550" dirty="0"/>
          </a:p>
        </p:txBody>
      </p:sp>
      <p:sp>
        <p:nvSpPr>
          <p:cNvPr id="12" name="Text 9"/>
          <p:cNvSpPr/>
          <p:nvPr/>
        </p:nvSpPr>
        <p:spPr>
          <a:xfrm>
            <a:off x="5306086" y="5234980"/>
            <a:ext cx="6151409"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Reduce the time and cognitive load required to check ingredient labels across languages and formats.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734200" y="892473"/>
            <a:ext cx="6151409" cy="495300"/>
          </a:xfrm>
          <a:prstGeom prst="rect">
            <a:avLst/>
          </a:prstGeom>
          <a:noFill/>
          <a:ln/>
        </p:spPr>
        <p:txBody>
          <a:bodyPr wrap="none" lIns="0" tIns="0" rIns="0" bIns="0" rtlCol="0" anchor="t"/>
          <a:lstStyle/>
          <a:p>
            <a:pPr algn="l" indent="0" marL="0">
              <a:lnSpc>
                <a:spcPct val="104000"/>
              </a:lnSpc>
              <a:buNone/>
            </a:pPr>
            <a:r>
              <a:rPr lang="en-US" sz="3100" dirty="0">
                <a:solidFill>
                  <a:srgbClr val="FFFFFF"/>
                </a:solidFill>
                <a:latin typeface="Barlow Medium" pitchFamily="34" charset="0"/>
                <a:ea typeface="Barlow Medium" pitchFamily="34" charset="-122"/>
                <a:cs typeface="Barlow Medium" pitchFamily="34" charset="-120"/>
              </a:rPr>
              <a:t>Background</a:t>
            </a:r>
            <a:endParaRPr lang="en-US" sz="3100" dirty="0"/>
          </a:p>
        </p:txBody>
      </p:sp>
      <p:sp>
        <p:nvSpPr>
          <p:cNvPr id="4" name="Text 1"/>
          <p:cNvSpPr/>
          <p:nvPr/>
        </p:nvSpPr>
        <p:spPr>
          <a:xfrm>
            <a:off x="734200" y="1615083"/>
            <a:ext cx="6151409" cy="1055291"/>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 Food labels vary by country, language, and industry vocabulary. Travelers and multilingual consumers often struggle to map ingredient names to allergens. Manual lookup is slow and error-prone; automation can increase speed and consistency. </a:t>
            </a:r>
            <a:endParaRPr lang="en-US" sz="14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4200" y="2840831"/>
            <a:ext cx="356583" cy="356592"/>
          </a:xfrm>
          <a:prstGeom prst="rect">
            <a:avLst/>
          </a:prstGeom>
        </p:spPr>
      </p:pic>
      <p:sp>
        <p:nvSpPr>
          <p:cNvPr id="6" name="Text 2"/>
          <p:cNvSpPr/>
          <p:nvPr/>
        </p:nvSpPr>
        <p:spPr>
          <a:xfrm>
            <a:off x="1280188" y="2902049"/>
            <a:ext cx="5605421" cy="247650"/>
          </a:xfrm>
          <a:prstGeom prst="rect">
            <a:avLst/>
          </a:prstGeom>
          <a:noFill/>
          <a:ln/>
        </p:spPr>
        <p:txBody>
          <a:bodyPr wrap="none" lIns="0" tIns="0" rIns="0" bIns="0" rtlCol="0" anchor="t"/>
          <a:lstStyle/>
          <a:p>
            <a:pPr algn="l" indent="0" marL="0">
              <a:lnSpc>
                <a:spcPct val="104000"/>
              </a:lnSpc>
              <a:buNone/>
            </a:pPr>
            <a:r>
              <a:rPr lang="en-US" sz="1550" dirty="0">
                <a:solidFill>
                  <a:srgbClr val="E5E0DF"/>
                </a:solidFill>
                <a:latin typeface="Barlow Medium" pitchFamily="34" charset="0"/>
                <a:ea typeface="Barlow Medium" pitchFamily="34" charset="-122"/>
                <a:cs typeface="Barlow Medium" pitchFamily="34" charset="-120"/>
              </a:rPr>
              <a:t>Challenge</a:t>
            </a:r>
            <a:endParaRPr lang="en-US" sz="1550" dirty="0"/>
          </a:p>
        </p:txBody>
      </p:sp>
      <p:sp>
        <p:nvSpPr>
          <p:cNvPr id="7" name="Text 3"/>
          <p:cNvSpPr/>
          <p:nvPr/>
        </p:nvSpPr>
        <p:spPr>
          <a:xfrm>
            <a:off x="1280188" y="3240584"/>
            <a:ext cx="5605421" cy="263823"/>
          </a:xfrm>
          <a:prstGeom prst="rect">
            <a:avLst/>
          </a:prstGeom>
          <a:noFill/>
          <a:ln/>
        </p:spPr>
        <p:txBody>
          <a:bodyPr wrap="none" lIns="0" tIns="0" rIns="0" bIns="0" rtlCol="0" anchor="t"/>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Language barriers, synonyms, and inconsistent ingredient nomenclature.</a:t>
            </a:r>
            <a:endParaRPr lang="en-US" sz="14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4200" y="3807520"/>
            <a:ext cx="356583" cy="356592"/>
          </a:xfrm>
          <a:prstGeom prst="rect">
            <a:avLst/>
          </a:prstGeom>
        </p:spPr>
      </p:pic>
      <p:sp>
        <p:nvSpPr>
          <p:cNvPr id="9" name="Text 4"/>
          <p:cNvSpPr/>
          <p:nvPr/>
        </p:nvSpPr>
        <p:spPr>
          <a:xfrm>
            <a:off x="1280188" y="3868737"/>
            <a:ext cx="5605421" cy="247650"/>
          </a:xfrm>
          <a:prstGeom prst="rect">
            <a:avLst/>
          </a:prstGeom>
          <a:noFill/>
          <a:ln/>
        </p:spPr>
        <p:txBody>
          <a:bodyPr wrap="none" lIns="0" tIns="0" rIns="0" bIns="0" rtlCol="0" anchor="t"/>
          <a:lstStyle/>
          <a:p>
            <a:pPr algn="l" indent="0" marL="0">
              <a:lnSpc>
                <a:spcPct val="104000"/>
              </a:lnSpc>
              <a:buNone/>
            </a:pPr>
            <a:r>
              <a:rPr lang="en-US" sz="1550" dirty="0">
                <a:solidFill>
                  <a:srgbClr val="E5E0DF"/>
                </a:solidFill>
                <a:latin typeface="Barlow Medium" pitchFamily="34" charset="0"/>
                <a:ea typeface="Barlow Medium" pitchFamily="34" charset="-122"/>
                <a:cs typeface="Barlow Medium" pitchFamily="34" charset="-120"/>
              </a:rPr>
              <a:t>Opportunity</a:t>
            </a:r>
            <a:endParaRPr lang="en-US" sz="1550" dirty="0"/>
          </a:p>
        </p:txBody>
      </p:sp>
      <p:sp>
        <p:nvSpPr>
          <p:cNvPr id="10" name="Text 5"/>
          <p:cNvSpPr/>
          <p:nvPr/>
        </p:nvSpPr>
        <p:spPr>
          <a:xfrm>
            <a:off x="1280188" y="4207272"/>
            <a:ext cx="5605421"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Combine OCR + NLP + translation to provide rapid, contextual allergen insights.</a:t>
            </a:r>
            <a:endParaRPr lang="en-US" sz="14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00" y="5038030"/>
            <a:ext cx="356583" cy="356592"/>
          </a:xfrm>
          <a:prstGeom prst="rect">
            <a:avLst/>
          </a:prstGeom>
        </p:spPr>
      </p:pic>
      <p:sp>
        <p:nvSpPr>
          <p:cNvPr id="12" name="Text 6"/>
          <p:cNvSpPr/>
          <p:nvPr/>
        </p:nvSpPr>
        <p:spPr>
          <a:xfrm>
            <a:off x="1280188" y="5099248"/>
            <a:ext cx="5605421" cy="247650"/>
          </a:xfrm>
          <a:prstGeom prst="rect">
            <a:avLst/>
          </a:prstGeom>
          <a:noFill/>
          <a:ln/>
        </p:spPr>
        <p:txBody>
          <a:bodyPr wrap="none" lIns="0" tIns="0" rIns="0" bIns="0" rtlCol="0" anchor="t"/>
          <a:lstStyle/>
          <a:p>
            <a:pPr algn="l" indent="0" marL="0">
              <a:lnSpc>
                <a:spcPct val="104000"/>
              </a:lnSpc>
              <a:buNone/>
            </a:pPr>
            <a:r>
              <a:rPr lang="en-US" sz="1550" dirty="0">
                <a:solidFill>
                  <a:srgbClr val="E5E0DF"/>
                </a:solidFill>
                <a:latin typeface="Barlow Medium" pitchFamily="34" charset="0"/>
                <a:ea typeface="Barlow Medium" pitchFamily="34" charset="-122"/>
                <a:cs typeface="Barlow Medium" pitchFamily="34" charset="-120"/>
              </a:rPr>
              <a:t>Safety note</a:t>
            </a:r>
            <a:endParaRPr lang="en-US" sz="1550" dirty="0"/>
          </a:p>
        </p:txBody>
      </p:sp>
      <p:sp>
        <p:nvSpPr>
          <p:cNvPr id="13" name="Text 7"/>
          <p:cNvSpPr/>
          <p:nvPr/>
        </p:nvSpPr>
        <p:spPr>
          <a:xfrm>
            <a:off x="1280188" y="5437783"/>
            <a:ext cx="5605421"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5E0DF"/>
                </a:solidFill>
                <a:latin typeface="Barlow" pitchFamily="34" charset="0"/>
                <a:ea typeface="Barlow" pitchFamily="34" charset="-122"/>
                <a:cs typeface="Barlow" pitchFamily="34" charset="-120"/>
              </a:rPr>
              <a:t>Tool detects potential allergen matches; it does not provide medical guarantees.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306086" y="842268"/>
            <a:ext cx="6151409" cy="524470"/>
          </a:xfrm>
          <a:prstGeom prst="rect">
            <a:avLst/>
          </a:prstGeom>
          <a:noFill/>
          <a:ln/>
        </p:spPr>
        <p:txBody>
          <a:bodyPr wrap="none" lIns="0" tIns="0" rIns="0" bIns="0" rtlCol="0" anchor="t"/>
          <a:lstStyle/>
          <a:p>
            <a:pPr algn="l" indent="0" marL="0">
              <a:lnSpc>
                <a:spcPct val="104000"/>
              </a:lnSpc>
              <a:buNone/>
            </a:pPr>
            <a:r>
              <a:rPr lang="en-US" sz="3300" dirty="0">
                <a:solidFill>
                  <a:srgbClr val="FFFFFF"/>
                </a:solidFill>
                <a:latin typeface="Barlow Medium" pitchFamily="34" charset="0"/>
                <a:ea typeface="Barlow Medium" pitchFamily="34" charset="-122"/>
                <a:cs typeface="Barlow Medium" pitchFamily="34" charset="-120"/>
              </a:rPr>
              <a:t>Problem Statement</a:t>
            </a:r>
            <a:endParaRPr lang="en-US" sz="3300" dirty="0"/>
          </a:p>
        </p:txBody>
      </p:sp>
      <p:sp>
        <p:nvSpPr>
          <p:cNvPr id="4" name="Text 1"/>
          <p:cNvSpPr/>
          <p:nvPr/>
        </p:nvSpPr>
        <p:spPr>
          <a:xfrm>
            <a:off x="5306086" y="1621631"/>
            <a:ext cx="6151409" cy="1147763"/>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 Many consumers cannot reliably determine whether a packaged food contains allergens when labels are in unfamiliar languages or use non-standard ingredient names. This increases risk, slows purchase decisions, and can lead to unsafe choices. </a:t>
            </a:r>
            <a:endParaRPr lang="en-US" sz="14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6086" y="2960489"/>
            <a:ext cx="2990775" cy="3055144"/>
          </a:xfrm>
          <a:prstGeom prst="rect">
            <a:avLst/>
          </a:prstGeom>
        </p:spPr>
      </p:pic>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88218" y="3130352"/>
            <a:ext cx="226511" cy="226516"/>
          </a:xfrm>
          <a:prstGeom prst="rect">
            <a:avLst/>
          </a:prstGeom>
        </p:spPr>
      </p:pic>
      <p:sp>
        <p:nvSpPr>
          <p:cNvPr id="7" name="Text 2"/>
          <p:cNvSpPr/>
          <p:nvPr/>
        </p:nvSpPr>
        <p:spPr>
          <a:xfrm>
            <a:off x="5520294" y="3715643"/>
            <a:ext cx="2562359" cy="262235"/>
          </a:xfrm>
          <a:prstGeom prst="rect">
            <a:avLst/>
          </a:prstGeom>
          <a:noFill/>
          <a:ln/>
        </p:spPr>
        <p:txBody>
          <a:bodyPr wrap="none" lIns="0" tIns="0" rIns="0" bIns="0" rtlCol="0" anchor="t"/>
          <a:lstStyle/>
          <a:p>
            <a:pPr algn="l"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Core problem</a:t>
            </a:r>
            <a:endParaRPr lang="en-US" sz="1650" dirty="0"/>
          </a:p>
        </p:txBody>
      </p:sp>
      <p:sp>
        <p:nvSpPr>
          <p:cNvPr id="8" name="Text 3"/>
          <p:cNvSpPr/>
          <p:nvPr/>
        </p:nvSpPr>
        <p:spPr>
          <a:xfrm>
            <a:off x="5520294" y="4079776"/>
            <a:ext cx="2562359" cy="860822"/>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Inconsistent label language and terminology prevents quick allergen recognition.</a:t>
            </a:r>
            <a:endParaRPr lang="en-US" sz="145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66719" y="2960489"/>
            <a:ext cx="2990775" cy="3055144"/>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8852" y="3130352"/>
            <a:ext cx="226511" cy="226516"/>
          </a:xfrm>
          <a:prstGeom prst="rect">
            <a:avLst/>
          </a:prstGeom>
        </p:spPr>
      </p:pic>
      <p:sp>
        <p:nvSpPr>
          <p:cNvPr id="11" name="Text 4"/>
          <p:cNvSpPr/>
          <p:nvPr/>
        </p:nvSpPr>
        <p:spPr>
          <a:xfrm>
            <a:off x="8680927" y="3715643"/>
            <a:ext cx="2562359" cy="262235"/>
          </a:xfrm>
          <a:prstGeom prst="rect">
            <a:avLst/>
          </a:prstGeom>
          <a:noFill/>
          <a:ln/>
        </p:spPr>
        <p:txBody>
          <a:bodyPr wrap="none" lIns="0" tIns="0" rIns="0" bIns="0" rtlCol="0" anchor="t"/>
          <a:lstStyle/>
          <a:p>
            <a:pPr algn="l"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Impact if solved</a:t>
            </a:r>
            <a:endParaRPr lang="en-US" sz="1650" dirty="0"/>
          </a:p>
        </p:txBody>
      </p:sp>
      <p:sp>
        <p:nvSpPr>
          <p:cNvPr id="12" name="Text 5"/>
          <p:cNvSpPr/>
          <p:nvPr/>
        </p:nvSpPr>
        <p:spPr>
          <a:xfrm>
            <a:off x="8680927" y="4079776"/>
            <a:ext cx="2562359" cy="1721644"/>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Faster, clearer label understanding for consumers; potential reduction in accidental exposures and improved consumer confidence.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734200" y="983159"/>
            <a:ext cx="6151409" cy="466130"/>
          </a:xfrm>
          <a:prstGeom prst="rect">
            <a:avLst/>
          </a:prstGeom>
          <a:noFill/>
          <a:ln/>
        </p:spPr>
        <p:txBody>
          <a:bodyPr wrap="none" lIns="0" tIns="0" rIns="0" bIns="0" rtlCol="0" anchor="t"/>
          <a:lstStyle/>
          <a:p>
            <a:pPr algn="l" indent="0" marL="0">
              <a:lnSpc>
                <a:spcPct val="104000"/>
              </a:lnSpc>
              <a:buNone/>
            </a:pPr>
            <a:r>
              <a:rPr lang="en-US" sz="2900" dirty="0">
                <a:solidFill>
                  <a:srgbClr val="FFFFFF"/>
                </a:solidFill>
                <a:latin typeface="Barlow Medium" pitchFamily="34" charset="0"/>
                <a:ea typeface="Barlow Medium" pitchFamily="34" charset="-122"/>
                <a:cs typeface="Barlow Medium" pitchFamily="34" charset="-120"/>
              </a:rPr>
              <a:t>Aims &amp; Objectives</a:t>
            </a:r>
            <a:endParaRPr lang="en-US" sz="2900" dirty="0"/>
          </a:p>
        </p:txBody>
      </p:sp>
      <p:sp>
        <p:nvSpPr>
          <p:cNvPr id="4" name="Shape 1"/>
          <p:cNvSpPr/>
          <p:nvPr/>
        </p:nvSpPr>
        <p:spPr>
          <a:xfrm>
            <a:off x="734200" y="1650603"/>
            <a:ext cx="377617" cy="377627"/>
          </a:xfrm>
          <a:prstGeom prst="roundRect">
            <a:avLst>
              <a:gd name="adj" fmla="val 18668"/>
            </a:avLst>
          </a:prstGeom>
          <a:solidFill>
            <a:srgbClr val="790709"/>
          </a:solidFill>
          <a:ln w="6350">
            <a:solidFill>
              <a:srgbClr val="922022"/>
            </a:solidFill>
            <a:prstDash val="solid"/>
          </a:ln>
        </p:spPr>
      </p:sp>
      <p:sp>
        <p:nvSpPr>
          <p:cNvPr id="5" name="Text 2"/>
          <p:cNvSpPr/>
          <p:nvPr/>
        </p:nvSpPr>
        <p:spPr>
          <a:xfrm>
            <a:off x="811143" y="1699568"/>
            <a:ext cx="223733" cy="279698"/>
          </a:xfrm>
          <a:prstGeom prst="rect">
            <a:avLst/>
          </a:prstGeom>
          <a:noFill/>
          <a:ln/>
        </p:spPr>
        <p:txBody>
          <a:bodyPr wrap="none" lIns="0" tIns="0" rIns="0" bIns="0" rtlCol="0" anchor="ctr"/>
          <a:lstStyle/>
          <a:p>
            <a:pPr algn="ctr" indent="0" marL="0">
              <a:lnSpc>
                <a:spcPct val="100000"/>
              </a:lnSpc>
              <a:buNone/>
            </a:pPr>
            <a:r>
              <a:rPr lang="en-US" sz="1750" dirty="0">
                <a:solidFill>
                  <a:srgbClr val="E5E0DF"/>
                </a:solidFill>
                <a:latin typeface="Barlow Medium" pitchFamily="34" charset="0"/>
                <a:ea typeface="Barlow Medium" pitchFamily="34" charset="-122"/>
                <a:cs typeface="Barlow Medium" pitchFamily="34" charset="-120"/>
              </a:rPr>
              <a:t>1</a:t>
            </a:r>
            <a:endParaRPr lang="en-US" sz="1750" dirty="0"/>
          </a:p>
        </p:txBody>
      </p:sp>
      <p:sp>
        <p:nvSpPr>
          <p:cNvPr id="6" name="Text 3"/>
          <p:cNvSpPr/>
          <p:nvPr/>
        </p:nvSpPr>
        <p:spPr>
          <a:xfrm>
            <a:off x="1246057" y="1708249"/>
            <a:ext cx="5639552" cy="233164"/>
          </a:xfrm>
          <a:prstGeom prst="rect">
            <a:avLst/>
          </a:prstGeom>
          <a:noFill/>
          <a:ln/>
        </p:spPr>
        <p:txBody>
          <a:bodyPr wrap="none" lIns="0" tIns="0" rIns="0" bIns="0" rtlCol="0" anchor="t"/>
          <a:lstStyle/>
          <a:p>
            <a:pPr algn="l" indent="0" marL="0">
              <a:lnSpc>
                <a:spcPct val="104000"/>
              </a:lnSpc>
              <a:buNone/>
            </a:pPr>
            <a:r>
              <a:rPr lang="en-US" sz="1450" dirty="0">
                <a:solidFill>
                  <a:srgbClr val="E5E0DF"/>
                </a:solidFill>
                <a:latin typeface="Barlow Medium" pitchFamily="34" charset="0"/>
                <a:ea typeface="Barlow Medium" pitchFamily="34" charset="-122"/>
                <a:cs typeface="Barlow Medium" pitchFamily="34" charset="-120"/>
              </a:rPr>
              <a:t>Aim</a:t>
            </a:r>
            <a:endParaRPr lang="en-US" sz="1450" dirty="0"/>
          </a:p>
        </p:txBody>
      </p:sp>
      <p:sp>
        <p:nvSpPr>
          <p:cNvPr id="7" name="Text 4"/>
          <p:cNvSpPr/>
          <p:nvPr/>
        </p:nvSpPr>
        <p:spPr>
          <a:xfrm>
            <a:off x="1246057" y="2021880"/>
            <a:ext cx="5639552" cy="483394"/>
          </a:xfrm>
          <a:prstGeom prst="rect">
            <a:avLst/>
          </a:prstGeom>
          <a:noFill/>
          <a:ln/>
        </p:spPr>
        <p:txBody>
          <a:bodyPr wrap="square" lIns="0" tIns="0" rIns="0" bIns="0" rtlCol="0" anchor="t">
            <a:normAutofit/>
          </a:bodyPr>
          <a:lstStyle/>
          <a:p>
            <a:pPr algn="l" indent="0" marL="0">
              <a:lnSpc>
                <a:spcPct val="120000"/>
              </a:lnSpc>
              <a:buNone/>
            </a:pPr>
            <a:r>
              <a:rPr lang="en-US" sz="1300" dirty="0">
                <a:solidFill>
                  <a:srgbClr val="E5E0DF"/>
                </a:solidFill>
                <a:latin typeface="Barlow" pitchFamily="34" charset="0"/>
                <a:ea typeface="Barlow" pitchFamily="34" charset="-122"/>
                <a:cs typeface="Barlow" pitchFamily="34" charset="-120"/>
              </a:rPr>
              <a:t>Develop a mobile-capable system that identifies ingredients and flags potential allergens across languages.</a:t>
            </a:r>
            <a:endParaRPr lang="en-US" sz="1300" dirty="0"/>
          </a:p>
        </p:txBody>
      </p:sp>
      <p:sp>
        <p:nvSpPr>
          <p:cNvPr id="8" name="Shape 5"/>
          <p:cNvSpPr/>
          <p:nvPr/>
        </p:nvSpPr>
        <p:spPr>
          <a:xfrm>
            <a:off x="734200" y="2773759"/>
            <a:ext cx="377617" cy="377627"/>
          </a:xfrm>
          <a:prstGeom prst="roundRect">
            <a:avLst>
              <a:gd name="adj" fmla="val 18668"/>
            </a:avLst>
          </a:prstGeom>
          <a:solidFill>
            <a:srgbClr val="790709"/>
          </a:solidFill>
          <a:ln w="6350">
            <a:solidFill>
              <a:srgbClr val="922022"/>
            </a:solidFill>
            <a:prstDash val="solid"/>
          </a:ln>
        </p:spPr>
      </p:sp>
      <p:sp>
        <p:nvSpPr>
          <p:cNvPr id="9" name="Text 6"/>
          <p:cNvSpPr/>
          <p:nvPr/>
        </p:nvSpPr>
        <p:spPr>
          <a:xfrm>
            <a:off x="811143" y="2822724"/>
            <a:ext cx="223733" cy="279698"/>
          </a:xfrm>
          <a:prstGeom prst="rect">
            <a:avLst/>
          </a:prstGeom>
          <a:noFill/>
          <a:ln/>
        </p:spPr>
        <p:txBody>
          <a:bodyPr wrap="none" lIns="0" tIns="0" rIns="0" bIns="0" rtlCol="0" anchor="ctr"/>
          <a:lstStyle/>
          <a:p>
            <a:pPr algn="ctr" indent="0" marL="0">
              <a:lnSpc>
                <a:spcPct val="100000"/>
              </a:lnSpc>
              <a:buNone/>
            </a:pPr>
            <a:r>
              <a:rPr lang="en-US" sz="1750" dirty="0">
                <a:solidFill>
                  <a:srgbClr val="E5E0DF"/>
                </a:solidFill>
                <a:latin typeface="Barlow Medium" pitchFamily="34" charset="0"/>
                <a:ea typeface="Barlow Medium" pitchFamily="34" charset="-122"/>
                <a:cs typeface="Barlow Medium" pitchFamily="34" charset="-120"/>
              </a:rPr>
              <a:t>2</a:t>
            </a:r>
            <a:endParaRPr lang="en-US" sz="1750" dirty="0"/>
          </a:p>
        </p:txBody>
      </p:sp>
      <p:sp>
        <p:nvSpPr>
          <p:cNvPr id="10" name="Text 7"/>
          <p:cNvSpPr/>
          <p:nvPr/>
        </p:nvSpPr>
        <p:spPr>
          <a:xfrm>
            <a:off x="1246057" y="2831405"/>
            <a:ext cx="5639552" cy="233164"/>
          </a:xfrm>
          <a:prstGeom prst="rect">
            <a:avLst/>
          </a:prstGeom>
          <a:noFill/>
          <a:ln/>
        </p:spPr>
        <p:txBody>
          <a:bodyPr wrap="none" lIns="0" tIns="0" rIns="0" bIns="0" rtlCol="0" anchor="t"/>
          <a:lstStyle/>
          <a:p>
            <a:pPr algn="l" indent="0" marL="0">
              <a:lnSpc>
                <a:spcPct val="104000"/>
              </a:lnSpc>
              <a:buNone/>
            </a:pPr>
            <a:r>
              <a:rPr lang="en-US" sz="1450" dirty="0">
                <a:solidFill>
                  <a:srgbClr val="E5E0DF"/>
                </a:solidFill>
                <a:latin typeface="Barlow Medium" pitchFamily="34" charset="0"/>
                <a:ea typeface="Barlow Medium" pitchFamily="34" charset="-122"/>
                <a:cs typeface="Barlow Medium" pitchFamily="34" charset="-120"/>
              </a:rPr>
              <a:t>Objective 1</a:t>
            </a:r>
            <a:endParaRPr lang="en-US" sz="1450" dirty="0"/>
          </a:p>
        </p:txBody>
      </p:sp>
      <p:sp>
        <p:nvSpPr>
          <p:cNvPr id="11" name="Text 8"/>
          <p:cNvSpPr/>
          <p:nvPr/>
        </p:nvSpPr>
        <p:spPr>
          <a:xfrm>
            <a:off x="1246057" y="3145036"/>
            <a:ext cx="5639552" cy="483394"/>
          </a:xfrm>
          <a:prstGeom prst="rect">
            <a:avLst/>
          </a:prstGeom>
          <a:noFill/>
          <a:ln/>
        </p:spPr>
        <p:txBody>
          <a:bodyPr wrap="square" lIns="0" tIns="0" rIns="0" bIns="0" rtlCol="0" anchor="t">
            <a:normAutofit/>
          </a:bodyPr>
          <a:lstStyle/>
          <a:p>
            <a:pPr algn="l" indent="0" marL="0">
              <a:lnSpc>
                <a:spcPct val="120000"/>
              </a:lnSpc>
              <a:buNone/>
            </a:pPr>
            <a:r>
              <a:rPr lang="en-US" sz="1300" dirty="0">
                <a:solidFill>
                  <a:srgbClr val="E5E0DF"/>
                </a:solidFill>
                <a:latin typeface="Barlow" pitchFamily="34" charset="0"/>
                <a:ea typeface="Barlow" pitchFamily="34" charset="-122"/>
                <a:cs typeface="Barlow" pitchFamily="34" charset="-120"/>
              </a:rPr>
              <a:t>Implement robust OCR that handles photos of labels and noisy backgrounds (complete within 4 months).</a:t>
            </a:r>
            <a:endParaRPr lang="en-US" sz="1300" dirty="0"/>
          </a:p>
        </p:txBody>
      </p:sp>
      <p:sp>
        <p:nvSpPr>
          <p:cNvPr id="12" name="Shape 9"/>
          <p:cNvSpPr/>
          <p:nvPr/>
        </p:nvSpPr>
        <p:spPr>
          <a:xfrm>
            <a:off x="734200" y="3896916"/>
            <a:ext cx="377617" cy="377627"/>
          </a:xfrm>
          <a:prstGeom prst="roundRect">
            <a:avLst>
              <a:gd name="adj" fmla="val 18668"/>
            </a:avLst>
          </a:prstGeom>
          <a:solidFill>
            <a:srgbClr val="790709"/>
          </a:solidFill>
          <a:ln w="6350">
            <a:solidFill>
              <a:srgbClr val="922022"/>
            </a:solidFill>
            <a:prstDash val="solid"/>
          </a:ln>
        </p:spPr>
      </p:sp>
      <p:sp>
        <p:nvSpPr>
          <p:cNvPr id="13" name="Text 10"/>
          <p:cNvSpPr/>
          <p:nvPr/>
        </p:nvSpPr>
        <p:spPr>
          <a:xfrm>
            <a:off x="811143" y="3945880"/>
            <a:ext cx="223733" cy="279698"/>
          </a:xfrm>
          <a:prstGeom prst="rect">
            <a:avLst/>
          </a:prstGeom>
          <a:noFill/>
          <a:ln/>
        </p:spPr>
        <p:txBody>
          <a:bodyPr wrap="none" lIns="0" tIns="0" rIns="0" bIns="0" rtlCol="0" anchor="ctr"/>
          <a:lstStyle/>
          <a:p>
            <a:pPr algn="ctr" indent="0" marL="0">
              <a:lnSpc>
                <a:spcPct val="100000"/>
              </a:lnSpc>
              <a:buNone/>
            </a:pPr>
            <a:r>
              <a:rPr lang="en-US" sz="1750" dirty="0">
                <a:solidFill>
                  <a:srgbClr val="E5E0DF"/>
                </a:solidFill>
                <a:latin typeface="Barlow Medium" pitchFamily="34" charset="0"/>
                <a:ea typeface="Barlow Medium" pitchFamily="34" charset="-122"/>
                <a:cs typeface="Barlow Medium" pitchFamily="34" charset="-120"/>
              </a:rPr>
              <a:t>3</a:t>
            </a:r>
            <a:endParaRPr lang="en-US" sz="1750" dirty="0"/>
          </a:p>
        </p:txBody>
      </p:sp>
      <p:sp>
        <p:nvSpPr>
          <p:cNvPr id="14" name="Text 11"/>
          <p:cNvSpPr/>
          <p:nvPr/>
        </p:nvSpPr>
        <p:spPr>
          <a:xfrm>
            <a:off x="1246057" y="3954562"/>
            <a:ext cx="5639552" cy="233164"/>
          </a:xfrm>
          <a:prstGeom prst="rect">
            <a:avLst/>
          </a:prstGeom>
          <a:noFill/>
          <a:ln/>
        </p:spPr>
        <p:txBody>
          <a:bodyPr wrap="none" lIns="0" tIns="0" rIns="0" bIns="0" rtlCol="0" anchor="t"/>
          <a:lstStyle/>
          <a:p>
            <a:pPr algn="l" indent="0" marL="0">
              <a:lnSpc>
                <a:spcPct val="104000"/>
              </a:lnSpc>
              <a:buNone/>
            </a:pPr>
            <a:r>
              <a:rPr lang="en-US" sz="1450" dirty="0">
                <a:solidFill>
                  <a:srgbClr val="E5E0DF"/>
                </a:solidFill>
                <a:latin typeface="Barlow Medium" pitchFamily="34" charset="0"/>
                <a:ea typeface="Barlow Medium" pitchFamily="34" charset="-122"/>
                <a:cs typeface="Barlow Medium" pitchFamily="34" charset="-120"/>
              </a:rPr>
              <a:t>Objective 2</a:t>
            </a:r>
            <a:endParaRPr lang="en-US" sz="1450" dirty="0"/>
          </a:p>
        </p:txBody>
      </p:sp>
      <p:sp>
        <p:nvSpPr>
          <p:cNvPr id="15" name="Text 12"/>
          <p:cNvSpPr/>
          <p:nvPr/>
        </p:nvSpPr>
        <p:spPr>
          <a:xfrm>
            <a:off x="1246057" y="4268192"/>
            <a:ext cx="5639552" cy="483394"/>
          </a:xfrm>
          <a:prstGeom prst="rect">
            <a:avLst/>
          </a:prstGeom>
          <a:noFill/>
          <a:ln/>
        </p:spPr>
        <p:txBody>
          <a:bodyPr wrap="square" lIns="0" tIns="0" rIns="0" bIns="0" rtlCol="0" anchor="t">
            <a:normAutofit/>
          </a:bodyPr>
          <a:lstStyle/>
          <a:p>
            <a:pPr algn="l" indent="0" marL="0">
              <a:lnSpc>
                <a:spcPct val="120000"/>
              </a:lnSpc>
              <a:buNone/>
            </a:pPr>
            <a:r>
              <a:rPr lang="en-US" sz="1300" dirty="0">
                <a:solidFill>
                  <a:srgbClr val="E5E0DF"/>
                </a:solidFill>
                <a:latin typeface="Barlow" pitchFamily="34" charset="0"/>
                <a:ea typeface="Barlow" pitchFamily="34" charset="-122"/>
                <a:cs typeface="Barlow" pitchFamily="34" charset="-120"/>
              </a:rPr>
              <a:t>Create an NLP pipeline for ingredient normalization, NER (ingredient entities), and allergen mapping (complete within 8 months).</a:t>
            </a:r>
            <a:endParaRPr lang="en-US" sz="1300" dirty="0"/>
          </a:p>
        </p:txBody>
      </p:sp>
      <p:sp>
        <p:nvSpPr>
          <p:cNvPr id="16" name="Shape 13"/>
          <p:cNvSpPr/>
          <p:nvPr/>
        </p:nvSpPr>
        <p:spPr>
          <a:xfrm>
            <a:off x="734200" y="5020072"/>
            <a:ext cx="377617" cy="377627"/>
          </a:xfrm>
          <a:prstGeom prst="roundRect">
            <a:avLst>
              <a:gd name="adj" fmla="val 18668"/>
            </a:avLst>
          </a:prstGeom>
          <a:solidFill>
            <a:srgbClr val="790709"/>
          </a:solidFill>
          <a:ln w="6350">
            <a:solidFill>
              <a:srgbClr val="922022"/>
            </a:solidFill>
            <a:prstDash val="solid"/>
          </a:ln>
        </p:spPr>
      </p:sp>
      <p:sp>
        <p:nvSpPr>
          <p:cNvPr id="17" name="Text 14"/>
          <p:cNvSpPr/>
          <p:nvPr/>
        </p:nvSpPr>
        <p:spPr>
          <a:xfrm>
            <a:off x="811143" y="5069036"/>
            <a:ext cx="223733" cy="279698"/>
          </a:xfrm>
          <a:prstGeom prst="rect">
            <a:avLst/>
          </a:prstGeom>
          <a:noFill/>
          <a:ln/>
        </p:spPr>
        <p:txBody>
          <a:bodyPr wrap="none" lIns="0" tIns="0" rIns="0" bIns="0" rtlCol="0" anchor="ctr"/>
          <a:lstStyle/>
          <a:p>
            <a:pPr algn="ctr" indent="0" marL="0">
              <a:lnSpc>
                <a:spcPct val="100000"/>
              </a:lnSpc>
              <a:buNone/>
            </a:pPr>
            <a:r>
              <a:rPr lang="en-US" sz="1750" dirty="0">
                <a:solidFill>
                  <a:srgbClr val="E5E0DF"/>
                </a:solidFill>
                <a:latin typeface="Barlow Medium" pitchFamily="34" charset="0"/>
                <a:ea typeface="Barlow Medium" pitchFamily="34" charset="-122"/>
                <a:cs typeface="Barlow Medium" pitchFamily="34" charset="-120"/>
              </a:rPr>
              <a:t>4</a:t>
            </a:r>
            <a:endParaRPr lang="en-US" sz="1750" dirty="0"/>
          </a:p>
        </p:txBody>
      </p:sp>
      <p:sp>
        <p:nvSpPr>
          <p:cNvPr id="18" name="Text 15"/>
          <p:cNvSpPr/>
          <p:nvPr/>
        </p:nvSpPr>
        <p:spPr>
          <a:xfrm>
            <a:off x="1246057" y="5077718"/>
            <a:ext cx="5639552" cy="233164"/>
          </a:xfrm>
          <a:prstGeom prst="rect">
            <a:avLst/>
          </a:prstGeom>
          <a:noFill/>
          <a:ln/>
        </p:spPr>
        <p:txBody>
          <a:bodyPr wrap="none" lIns="0" tIns="0" rIns="0" bIns="0" rtlCol="0" anchor="t"/>
          <a:lstStyle/>
          <a:p>
            <a:pPr algn="l" indent="0" marL="0">
              <a:lnSpc>
                <a:spcPct val="104000"/>
              </a:lnSpc>
              <a:buNone/>
            </a:pPr>
            <a:r>
              <a:rPr lang="en-US" sz="1450" dirty="0">
                <a:solidFill>
                  <a:srgbClr val="E5E0DF"/>
                </a:solidFill>
                <a:latin typeface="Barlow Medium" pitchFamily="34" charset="0"/>
                <a:ea typeface="Barlow Medium" pitchFamily="34" charset="-122"/>
                <a:cs typeface="Barlow Medium" pitchFamily="34" charset="-120"/>
              </a:rPr>
              <a:t>Objective 3</a:t>
            </a:r>
            <a:endParaRPr lang="en-US" sz="1450" dirty="0"/>
          </a:p>
        </p:txBody>
      </p:sp>
      <p:sp>
        <p:nvSpPr>
          <p:cNvPr id="19" name="Text 16"/>
          <p:cNvSpPr/>
          <p:nvPr/>
        </p:nvSpPr>
        <p:spPr>
          <a:xfrm>
            <a:off x="1246057" y="5391348"/>
            <a:ext cx="5639552" cy="483394"/>
          </a:xfrm>
          <a:prstGeom prst="rect">
            <a:avLst/>
          </a:prstGeom>
          <a:noFill/>
          <a:ln/>
        </p:spPr>
        <p:txBody>
          <a:bodyPr wrap="square" lIns="0" tIns="0" rIns="0" bIns="0" rtlCol="0" anchor="t">
            <a:normAutofit/>
          </a:bodyPr>
          <a:lstStyle/>
          <a:p>
            <a:pPr algn="l" indent="0" marL="0">
              <a:lnSpc>
                <a:spcPct val="120000"/>
              </a:lnSpc>
              <a:buNone/>
            </a:pPr>
            <a:r>
              <a:rPr lang="en-US" sz="1300" dirty="0">
                <a:solidFill>
                  <a:srgbClr val="E5E0DF"/>
                </a:solidFill>
                <a:latin typeface="Barlow" pitchFamily="34" charset="0"/>
                <a:ea typeface="Barlow" pitchFamily="34" charset="-122"/>
                <a:cs typeface="Barlow" pitchFamily="34" charset="-120"/>
              </a:rPr>
              <a:t>Integrate barcode lookup, multilingual translation, and a user allergy profile to provide personalized alerts (complete within 12 months).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306086" y="1256209"/>
            <a:ext cx="6151409" cy="524470"/>
          </a:xfrm>
          <a:prstGeom prst="rect">
            <a:avLst/>
          </a:prstGeom>
          <a:noFill/>
          <a:ln/>
        </p:spPr>
        <p:txBody>
          <a:bodyPr wrap="none" lIns="0" tIns="0" rIns="0" bIns="0" rtlCol="0" anchor="t"/>
          <a:lstStyle/>
          <a:p>
            <a:pPr algn="l" indent="0" marL="0">
              <a:lnSpc>
                <a:spcPct val="104000"/>
              </a:lnSpc>
              <a:buNone/>
            </a:pPr>
            <a:r>
              <a:rPr lang="en-US" sz="3300" dirty="0">
                <a:solidFill>
                  <a:srgbClr val="FFFFFF"/>
                </a:solidFill>
                <a:latin typeface="Barlow Medium" pitchFamily="34" charset="0"/>
                <a:ea typeface="Barlow Medium" pitchFamily="34" charset="-122"/>
                <a:cs typeface="Barlow Medium" pitchFamily="34" charset="-120"/>
              </a:rPr>
              <a:t>Literature Study</a:t>
            </a:r>
            <a:endParaRPr lang="en-US" sz="3300" dirty="0"/>
          </a:p>
        </p:txBody>
      </p:sp>
      <p:sp>
        <p:nvSpPr>
          <p:cNvPr id="4" name="Text 1"/>
          <p:cNvSpPr/>
          <p:nvPr/>
        </p:nvSpPr>
        <p:spPr>
          <a:xfrm>
            <a:off x="5306086" y="2035572"/>
            <a:ext cx="6151409" cy="1434703"/>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 Existing solutions address OCR for labels, translation services, and allergen databases separately. Fewer tools integrate OCR→NLP→allergen mapping with personalized profiles. Key gaps: cross-language ingredient normalization, false positives from ambiguous ingredient names, and end-to-end user testing data. </a:t>
            </a:r>
            <a:endParaRPr lang="en-US" sz="1450" dirty="0"/>
          </a:p>
        </p:txBody>
      </p:sp>
      <p:sp>
        <p:nvSpPr>
          <p:cNvPr id="5" name="Shape 2"/>
          <p:cNvSpPr/>
          <p:nvPr/>
        </p:nvSpPr>
        <p:spPr>
          <a:xfrm>
            <a:off x="5306086" y="3661370"/>
            <a:ext cx="2990775" cy="1940322"/>
          </a:xfrm>
          <a:prstGeom prst="roundRect">
            <a:avLst>
              <a:gd name="adj" fmla="val 4087"/>
            </a:avLst>
          </a:prstGeom>
          <a:solidFill>
            <a:srgbClr val="191718">
              <a:alpha val="95000"/>
            </a:srgbClr>
          </a:solidFill>
          <a:ln w="25399">
            <a:solidFill>
              <a:srgbClr val="922022"/>
            </a:solidFill>
            <a:prstDash val="solid"/>
          </a:ln>
        </p:spPr>
      </p:sp>
      <p:sp>
        <p:nvSpPr>
          <p:cNvPr id="6" name="Text 3"/>
          <p:cNvSpPr/>
          <p:nvPr/>
        </p:nvSpPr>
        <p:spPr>
          <a:xfrm>
            <a:off x="5520294" y="3875584"/>
            <a:ext cx="2562359" cy="262235"/>
          </a:xfrm>
          <a:prstGeom prst="rect">
            <a:avLst/>
          </a:prstGeom>
          <a:noFill/>
          <a:ln/>
        </p:spPr>
        <p:txBody>
          <a:bodyPr wrap="none" lIns="0" tIns="0" rIns="0" bIns="0" rtlCol="0" anchor="t"/>
          <a:lstStyle/>
          <a:p>
            <a:pPr algn="l"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Existing components</a:t>
            </a:r>
            <a:endParaRPr lang="en-US" sz="1650" dirty="0"/>
          </a:p>
        </p:txBody>
      </p:sp>
      <p:sp>
        <p:nvSpPr>
          <p:cNvPr id="7" name="Text 4"/>
          <p:cNvSpPr/>
          <p:nvPr/>
        </p:nvSpPr>
        <p:spPr>
          <a:xfrm>
            <a:off x="5520294" y="4239716"/>
            <a:ext cx="2562359" cy="1147763"/>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OCR engines, machine translation, ingredient taxonomies, and allergen registries exist independently.</a:t>
            </a:r>
            <a:endParaRPr lang="en-US" sz="1450" dirty="0"/>
          </a:p>
        </p:txBody>
      </p:sp>
      <p:sp>
        <p:nvSpPr>
          <p:cNvPr id="8" name="Shape 5"/>
          <p:cNvSpPr/>
          <p:nvPr/>
        </p:nvSpPr>
        <p:spPr>
          <a:xfrm>
            <a:off x="8466719" y="3661370"/>
            <a:ext cx="2990775" cy="1940322"/>
          </a:xfrm>
          <a:prstGeom prst="roundRect">
            <a:avLst>
              <a:gd name="adj" fmla="val 4087"/>
            </a:avLst>
          </a:prstGeom>
          <a:solidFill>
            <a:srgbClr val="191718">
              <a:alpha val="95000"/>
            </a:srgbClr>
          </a:solidFill>
          <a:ln w="25399">
            <a:solidFill>
              <a:srgbClr val="922022"/>
            </a:solidFill>
            <a:prstDash val="solid"/>
          </a:ln>
        </p:spPr>
      </p:sp>
      <p:sp>
        <p:nvSpPr>
          <p:cNvPr id="9" name="Text 6"/>
          <p:cNvSpPr/>
          <p:nvPr/>
        </p:nvSpPr>
        <p:spPr>
          <a:xfrm>
            <a:off x="8680927" y="3875584"/>
            <a:ext cx="2562359" cy="262235"/>
          </a:xfrm>
          <a:prstGeom prst="rect">
            <a:avLst/>
          </a:prstGeom>
          <a:noFill/>
          <a:ln/>
        </p:spPr>
        <p:txBody>
          <a:bodyPr wrap="none" lIns="0" tIns="0" rIns="0" bIns="0" rtlCol="0" anchor="t"/>
          <a:lstStyle/>
          <a:p>
            <a:pPr algn="l"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Identified gaps</a:t>
            </a:r>
            <a:endParaRPr lang="en-US" sz="1650" dirty="0"/>
          </a:p>
        </p:txBody>
      </p:sp>
      <p:sp>
        <p:nvSpPr>
          <p:cNvPr id="10" name="Text 7"/>
          <p:cNvSpPr/>
          <p:nvPr/>
        </p:nvSpPr>
        <p:spPr>
          <a:xfrm>
            <a:off x="8680927" y="4239716"/>
            <a:ext cx="2562359" cy="1147763"/>
          </a:xfrm>
          <a:prstGeom prst="rect">
            <a:avLst/>
          </a:prstGeom>
          <a:noFill/>
          <a:ln/>
        </p:spPr>
        <p:txBody>
          <a:bodyPr wrap="square" lIns="0" tIns="0" rIns="0" bIns="0" rtlCol="0" anchor="t">
            <a:normAutofit/>
          </a:bodyPr>
          <a:lstStyle/>
          <a:p>
            <a:pPr algn="l" indent="0" marL="0">
              <a:lnSpc>
                <a:spcPct val="127000"/>
              </a:lnSpc>
              <a:buNone/>
            </a:pPr>
            <a:r>
              <a:rPr lang="en-US" sz="1450" dirty="0">
                <a:solidFill>
                  <a:srgbClr val="E5E0DF"/>
                </a:solidFill>
                <a:latin typeface="Barlow" pitchFamily="34" charset="0"/>
                <a:ea typeface="Barlow" pitchFamily="34" charset="-122"/>
                <a:cs typeface="Barlow" pitchFamily="34" charset="-120"/>
              </a:rPr>
              <a:t>Integration, multilingual normalization, and transparent confidence scoring are under-explored.</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926383" y="899120"/>
            <a:ext cx="8338929" cy="3816548"/>
          </a:xfrm>
          <a:prstGeom prst="rect">
            <a:avLst/>
          </a:prstGeom>
        </p:spPr>
      </p:pic>
      <p:sp>
        <p:nvSpPr>
          <p:cNvPr id="3" name="Text 0"/>
          <p:cNvSpPr/>
          <p:nvPr/>
        </p:nvSpPr>
        <p:spPr>
          <a:xfrm>
            <a:off x="8311539" y="3826114"/>
            <a:ext cx="1565571" cy="268084"/>
          </a:xfrm>
          <a:prstGeom prst="rect">
            <a:avLst/>
          </a:prstGeom>
          <a:noFill/>
          <a:ln/>
        </p:spPr>
        <p:txBody>
          <a:bodyPr wrap="none" lIns="0" tIns="0" rIns="0" bIns="0" rtlCol="0" anchor="t"/>
          <a:lstStyle/>
          <a:p>
            <a:pPr algn="ctr"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Alert</a:t>
            </a:r>
            <a:endParaRPr lang="en-US" sz="1650" dirty="0"/>
          </a:p>
        </p:txBody>
      </p:sp>
      <p:sp>
        <p:nvSpPr>
          <p:cNvPr id="4" name="Text 1"/>
          <p:cNvSpPr/>
          <p:nvPr/>
        </p:nvSpPr>
        <p:spPr>
          <a:xfrm>
            <a:off x="6338490" y="3826114"/>
            <a:ext cx="1565571" cy="268084"/>
          </a:xfrm>
          <a:prstGeom prst="rect">
            <a:avLst/>
          </a:prstGeom>
          <a:noFill/>
          <a:ln/>
        </p:spPr>
        <p:txBody>
          <a:bodyPr wrap="none" lIns="0" tIns="0" rIns="0" bIns="0" rtlCol="0" anchor="t"/>
          <a:lstStyle/>
          <a:p>
            <a:pPr algn="ctr"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Extract</a:t>
            </a:r>
            <a:endParaRPr lang="en-US" sz="1650" dirty="0"/>
          </a:p>
        </p:txBody>
      </p:sp>
      <p:sp>
        <p:nvSpPr>
          <p:cNvPr id="5" name="Text 2"/>
          <p:cNvSpPr/>
          <p:nvPr/>
        </p:nvSpPr>
        <p:spPr>
          <a:xfrm>
            <a:off x="4376164" y="3826114"/>
            <a:ext cx="1565571" cy="268084"/>
          </a:xfrm>
          <a:prstGeom prst="rect">
            <a:avLst/>
          </a:prstGeom>
          <a:noFill/>
          <a:ln/>
        </p:spPr>
        <p:txBody>
          <a:bodyPr wrap="none" lIns="0" tIns="0" rIns="0" bIns="0" rtlCol="0" anchor="t"/>
          <a:lstStyle/>
          <a:p>
            <a:pPr algn="ctr"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OCR</a:t>
            </a:r>
            <a:endParaRPr lang="en-US" sz="1650" dirty="0"/>
          </a:p>
        </p:txBody>
      </p:sp>
      <p:sp>
        <p:nvSpPr>
          <p:cNvPr id="6" name="Text 3"/>
          <p:cNvSpPr/>
          <p:nvPr/>
        </p:nvSpPr>
        <p:spPr>
          <a:xfrm>
            <a:off x="2370946" y="3826114"/>
            <a:ext cx="1565571" cy="268084"/>
          </a:xfrm>
          <a:prstGeom prst="rect">
            <a:avLst/>
          </a:prstGeom>
          <a:noFill/>
          <a:ln/>
        </p:spPr>
        <p:txBody>
          <a:bodyPr wrap="none" lIns="0" tIns="0" rIns="0" bIns="0" rtlCol="0" anchor="t"/>
          <a:lstStyle/>
          <a:p>
            <a:pPr algn="ctr" indent="0" marL="0">
              <a:lnSpc>
                <a:spcPct val="104000"/>
              </a:lnSpc>
              <a:buNone/>
            </a:pPr>
            <a:r>
              <a:rPr lang="en-US" sz="1650" dirty="0">
                <a:solidFill>
                  <a:srgbClr val="E5E0DF"/>
                </a:solidFill>
                <a:latin typeface="Barlow Medium" pitchFamily="34" charset="0"/>
                <a:ea typeface="Barlow Medium" pitchFamily="34" charset="-122"/>
                <a:cs typeface="Barlow Medium" pitchFamily="34" charset="-120"/>
              </a:rPr>
              <a:t>Capture</a:t>
            </a:r>
            <a:endParaRPr lang="en-US" sz="1650" dirty="0"/>
          </a:p>
        </p:txBody>
      </p:sp>
      <p:sp>
        <p:nvSpPr>
          <p:cNvPr id="7" name="Text 4"/>
          <p:cNvSpPr/>
          <p:nvPr/>
        </p:nvSpPr>
        <p:spPr>
          <a:xfrm>
            <a:off x="734200" y="4951611"/>
            <a:ext cx="10723294" cy="1007269"/>
          </a:xfrm>
          <a:prstGeom prst="rect">
            <a:avLst/>
          </a:prstGeom>
          <a:noFill/>
          <a:ln/>
        </p:spPr>
        <p:txBody>
          <a:bodyPr wrap="square" lIns="0" tIns="0" rIns="0" bIns="0" rtlCol="0" anchor="t">
            <a:normAutofit/>
          </a:bodyPr>
          <a:lstStyle/>
          <a:p>
            <a:pPr algn="l" indent="0" marL="0">
              <a:lnSpc>
                <a:spcPct val="133000"/>
              </a:lnSpc>
              <a:buNone/>
            </a:pPr>
            <a:r>
              <a:rPr lang="en-US" sz="1650" dirty="0">
                <a:solidFill>
                  <a:srgbClr val="E5E0DF"/>
                </a:solidFill>
                <a:latin typeface="Barlow" pitchFamily="34" charset="0"/>
                <a:ea typeface="Barlow" pitchFamily="34" charset="-122"/>
                <a:cs typeface="Barlow" pitchFamily="34" charset="-120"/>
              </a:rPr>
              <a:t> The methodology follows a pipeline: capture → OCR &amp; language detection → NLP extraction and mapping → personalized presentation with confidence scores and explanatory text. Methods include open-source OCR models, pretrained language models for NER, curated allergen lexicons, and lightweight mobile integration.</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4200" y="687884"/>
            <a:ext cx="10723294" cy="582712"/>
          </a:xfrm>
          <a:prstGeom prst="rect">
            <a:avLst/>
          </a:prstGeom>
          <a:noFill/>
          <a:ln/>
        </p:spPr>
        <p:txBody>
          <a:bodyPr wrap="none" lIns="0" tIns="0" rIns="0" bIns="0" rtlCol="0" anchor="t"/>
          <a:lstStyle/>
          <a:p>
            <a:pPr algn="l" indent="0" marL="0">
              <a:lnSpc>
                <a:spcPct val="104000"/>
              </a:lnSpc>
              <a:buNone/>
            </a:pPr>
            <a:r>
              <a:rPr lang="en-US" sz="3650" dirty="0">
                <a:solidFill>
                  <a:srgbClr val="FFFFFF"/>
                </a:solidFill>
                <a:latin typeface="Barlow Medium" pitchFamily="34" charset="0"/>
                <a:ea typeface="Barlow Medium" pitchFamily="34" charset="-122"/>
                <a:cs typeface="Barlow Medium" pitchFamily="34" charset="-120"/>
              </a:rPr>
              <a:t>Proposed Design — Major Blocks</a:t>
            </a:r>
            <a:endParaRPr lang="en-US" sz="3650" dirty="0"/>
          </a:p>
        </p:txBody>
      </p:sp>
      <p:sp>
        <p:nvSpPr>
          <p:cNvPr id="3" name="Text 1"/>
          <p:cNvSpPr/>
          <p:nvPr/>
        </p:nvSpPr>
        <p:spPr>
          <a:xfrm>
            <a:off x="734200" y="1774031"/>
            <a:ext cx="3982243" cy="671513"/>
          </a:xfrm>
          <a:prstGeom prst="rect">
            <a:avLst/>
          </a:prstGeom>
          <a:noFill/>
          <a:ln/>
        </p:spPr>
        <p:txBody>
          <a:bodyPr wrap="square" lIns="0" tIns="0" rIns="0" bIns="0" rtlCol="0" anchor="t">
            <a:normAutofit/>
          </a:bodyPr>
          <a:lstStyle/>
          <a:p>
            <a:pPr algn="l" indent="0" marL="0">
              <a:lnSpc>
                <a:spcPct val="133000"/>
              </a:lnSpc>
              <a:buNone/>
            </a:pPr>
            <a:r>
              <a:rPr lang="en-US" sz="1650" dirty="0">
                <a:solidFill>
                  <a:srgbClr val="E5E0DF"/>
                </a:solidFill>
                <a:latin typeface="Barlow" pitchFamily="34" charset="0"/>
                <a:ea typeface="Barlow" pitchFamily="34" charset="-122"/>
                <a:cs typeface="Barlow" pitchFamily="34" charset="-120"/>
              </a:rPr>
              <a:t>     The solution is modular to support iterative development and testing:     </a:t>
            </a:r>
            <a:endParaRPr lang="en-US" sz="1650" dirty="0"/>
          </a:p>
        </p:txBody>
      </p:sp>
      <p:sp>
        <p:nvSpPr>
          <p:cNvPr id="4" name="Text 2"/>
          <p:cNvSpPr/>
          <p:nvPr/>
        </p:nvSpPr>
        <p:spPr>
          <a:xfrm>
            <a:off x="734200" y="2634357"/>
            <a:ext cx="3982243" cy="3462338"/>
          </a:xfrm>
          <a:prstGeom prst="rect">
            <a:avLst/>
          </a:prstGeom>
          <a:noFill/>
          <a:ln/>
        </p:spPr>
        <p:txBody>
          <a:bodyPr wrap="square" lIns="0" tIns="83920" rIns="0" bIns="0" rtlCol="0" anchor="t">
            <a:normAutofit/>
          </a:bodyPr>
          <a:lstStyle/>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Capture layer (camera, gallery, barcode)</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OCR &amp; image preprocessing</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Language detection &amp; translation</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Ingredient extraction (NER) &amp; normalization</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Allergen matching &amp; confidence scoring</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User profile &amp; personalization</a:t>
            </a:r>
            <a:endParaRPr lang="en-US" sz="1650" dirty="0"/>
          </a:p>
          <a:p>
            <a:pPr algn="l" marL="335280" indent="-335280">
              <a:lnSpc>
                <a:spcPct val="133000"/>
              </a:lnSpc>
              <a:buSzPct val="100000"/>
              <a:buChar char="•"/>
            </a:pPr>
            <a:r>
              <a:rPr lang="en-US" sz="1650" dirty="0">
                <a:solidFill>
                  <a:srgbClr val="E5E0DF"/>
                </a:solidFill>
                <a:latin typeface="Barlow" pitchFamily="34" charset="0"/>
                <a:ea typeface="Barlow" pitchFamily="34" charset="-122"/>
                <a:cs typeface="Barlow" pitchFamily="34" charset="-120"/>
              </a:rPr>
              <a:t>Results UI with explanations and suggested next steps</a:t>
            </a:r>
            <a:endParaRPr lang="en-US" sz="1650" dirty="0"/>
          </a:p>
        </p:txBody>
      </p:sp>
      <p:pic>
        <p:nvPicPr>
          <p:cNvPr id="5" name="Image 0" descr="preencoded.png">    </p:cNvPr>
          <p:cNvPicPr>
            <a:picLocks noChangeAspect="1"/>
          </p:cNvPicPr>
          <p:nvPr/>
        </p:nvPicPr>
        <p:blipFill>
          <a:blip r:embed="rId1"/>
          <a:stretch>
            <a:fillRect/>
          </a:stretch>
        </p:blipFill>
        <p:spPr>
          <a:xfrm>
            <a:off x="5234551" y="2125663"/>
            <a:ext cx="6229194" cy="35040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4200" y="582811"/>
            <a:ext cx="10723294" cy="397966"/>
          </a:xfrm>
          <a:prstGeom prst="rect">
            <a:avLst/>
          </a:prstGeom>
          <a:noFill/>
          <a:ln/>
        </p:spPr>
        <p:txBody>
          <a:bodyPr wrap="none" lIns="0" tIns="0" rIns="0" bIns="0" rtlCol="0" anchor="t"/>
          <a:lstStyle/>
          <a:p>
            <a:pPr algn="l" indent="0" marL="0">
              <a:lnSpc>
                <a:spcPct val="104000"/>
              </a:lnSpc>
              <a:buNone/>
            </a:pPr>
            <a:r>
              <a:rPr lang="en-US" sz="2500" dirty="0">
                <a:solidFill>
                  <a:srgbClr val="FFFFFF"/>
                </a:solidFill>
                <a:latin typeface="Barlow Medium" pitchFamily="34" charset="0"/>
                <a:ea typeface="Barlow Medium" pitchFamily="34" charset="-122"/>
                <a:cs typeface="Barlow Medium" pitchFamily="34" charset="-120"/>
              </a:rPr>
              <a:t>Project Timeline (12 months)</a:t>
            </a:r>
            <a:endParaRPr lang="en-US" sz="2500" dirty="0"/>
          </a:p>
        </p:txBody>
      </p:sp>
      <p:sp>
        <p:nvSpPr>
          <p:cNvPr id="3" name="Text 1"/>
          <p:cNvSpPr/>
          <p:nvPr/>
        </p:nvSpPr>
        <p:spPr>
          <a:xfrm>
            <a:off x="734200" y="2827437"/>
            <a:ext cx="5186927" cy="385564"/>
          </a:xfrm>
          <a:prstGeom prst="rect">
            <a:avLst/>
          </a:prstGeom>
          <a:noFill/>
          <a:ln/>
        </p:spPr>
        <p:txBody>
          <a:bodyPr wrap="square" lIns="0" tIns="0" rIns="0" bIns="0" rtlCol="0" anchor="t">
            <a:normAutofit/>
          </a:bodyPr>
          <a:lstStyle/>
          <a:p>
            <a:pPr algn="l" indent="0" marL="0">
              <a:lnSpc>
                <a:spcPct val="112000"/>
              </a:lnSpc>
              <a:buNone/>
            </a:pPr>
            <a:r>
              <a:rPr lang="en-US" sz="1100" dirty="0">
                <a:solidFill>
                  <a:srgbClr val="E5E0DF"/>
                </a:solidFill>
                <a:latin typeface="Barlow" pitchFamily="34" charset="0"/>
                <a:ea typeface="Barlow" pitchFamily="34" charset="-122"/>
                <a:cs typeface="Barlow" pitchFamily="34" charset="-120"/>
              </a:rPr>
              <a:t>     High-level monthly plan with milestones and deliverables. Examples below must be tailored to the specific project during planning.     </a:t>
            </a:r>
            <a:endParaRPr lang="en-US" sz="1100" dirty="0"/>
          </a:p>
        </p:txBody>
      </p:sp>
      <p:sp>
        <p:nvSpPr>
          <p:cNvPr id="4" name="Text 2"/>
          <p:cNvSpPr/>
          <p:nvPr/>
        </p:nvSpPr>
        <p:spPr>
          <a:xfrm>
            <a:off x="734200" y="3301008"/>
            <a:ext cx="5186927" cy="1327845"/>
          </a:xfrm>
          <a:prstGeom prst="rect">
            <a:avLst/>
          </a:prstGeom>
          <a:noFill/>
          <a:ln/>
        </p:spPr>
        <p:txBody>
          <a:bodyPr wrap="square" lIns="0" tIns="0" rIns="0" bIns="0" rtlCol="0" anchor="t">
            <a:normAutofit/>
          </a:bodyPr>
          <a:lstStyle/>
          <a:p>
            <a:pPr algn="l" marL="223520" indent="-223520">
              <a:lnSpc>
                <a:spcPct val="112000"/>
              </a:lnSpc>
              <a:buSzPct val="100000"/>
              <a:buFont typeface="+mj-lt"/>
              <a:buAutoNum type="arabicPeriod" startAt="1"/>
            </a:pPr>
            <a:r>
              <a:rPr lang="en-US" sz="1100" dirty="0">
                <a:solidFill>
                  <a:srgbClr val="E5E0DF"/>
                </a:solidFill>
                <a:latin typeface="Barlow" pitchFamily="34" charset="0"/>
                <a:ea typeface="Barlow" pitchFamily="34" charset="-122"/>
                <a:cs typeface="Barlow" pitchFamily="34" charset="-120"/>
              </a:rPr>
              <a:t>Months 1–2: Ideation, requirements, dataset search</a:t>
            </a:r>
            <a:endParaRPr lang="en-US" sz="1100" dirty="0"/>
          </a:p>
          <a:p>
            <a:pPr algn="l" marL="223520" indent="-223520">
              <a:lnSpc>
                <a:spcPct val="112000"/>
              </a:lnSpc>
              <a:buSzPct val="100000"/>
              <a:buFont typeface="+mj-lt"/>
              <a:buAutoNum type="arabicPeriod" startAt="2"/>
            </a:pPr>
            <a:r>
              <a:rPr lang="en-US" sz="1100" dirty="0">
                <a:solidFill>
                  <a:srgbClr val="E5E0DF"/>
                </a:solidFill>
                <a:latin typeface="Barlow" pitchFamily="34" charset="0"/>
                <a:ea typeface="Barlow" pitchFamily="34" charset="-122"/>
                <a:cs typeface="Barlow" pitchFamily="34" charset="-120"/>
              </a:rPr>
              <a:t>Months 3–4: OCR model selection &amp; preprocessing pipeline</a:t>
            </a:r>
            <a:endParaRPr lang="en-US" sz="1100" dirty="0"/>
          </a:p>
          <a:p>
            <a:pPr algn="l" marL="223520" indent="-223520">
              <a:lnSpc>
                <a:spcPct val="112000"/>
              </a:lnSpc>
              <a:buSzPct val="100000"/>
              <a:buFont typeface="+mj-lt"/>
              <a:buAutoNum type="arabicPeriod" startAt="3"/>
            </a:pPr>
            <a:r>
              <a:rPr lang="en-US" sz="1100" dirty="0">
                <a:solidFill>
                  <a:srgbClr val="E5E0DF"/>
                </a:solidFill>
                <a:latin typeface="Barlow" pitchFamily="34" charset="0"/>
                <a:ea typeface="Barlow" pitchFamily="34" charset="-122"/>
                <a:cs typeface="Barlow" pitchFamily="34" charset="-120"/>
              </a:rPr>
              <a:t>Months 5–7: NLP pipeline, ingredient normalization, allergen mapping</a:t>
            </a:r>
            <a:endParaRPr lang="en-US" sz="1100" dirty="0"/>
          </a:p>
          <a:p>
            <a:pPr algn="l" marL="223520" indent="-223520">
              <a:lnSpc>
                <a:spcPct val="112000"/>
              </a:lnSpc>
              <a:buSzPct val="100000"/>
              <a:buFont typeface="+mj-lt"/>
              <a:buAutoNum type="arabicPeriod" startAt="4"/>
            </a:pPr>
            <a:r>
              <a:rPr lang="en-US" sz="1100" dirty="0">
                <a:solidFill>
                  <a:srgbClr val="E5E0DF"/>
                </a:solidFill>
                <a:latin typeface="Barlow" pitchFamily="34" charset="0"/>
                <a:ea typeface="Barlow" pitchFamily="34" charset="-122"/>
                <a:cs typeface="Barlow" pitchFamily="34" charset="-120"/>
              </a:rPr>
              <a:t>Months 8–9: Integration, barcode lookup, mobile UI prototype</a:t>
            </a:r>
            <a:endParaRPr lang="en-US" sz="1100" dirty="0"/>
          </a:p>
          <a:p>
            <a:pPr algn="l" marL="223520" indent="-223520">
              <a:lnSpc>
                <a:spcPct val="112000"/>
              </a:lnSpc>
              <a:buSzPct val="100000"/>
              <a:buFont typeface="+mj-lt"/>
              <a:buAutoNum type="arabicPeriod" startAt="5"/>
            </a:pPr>
            <a:r>
              <a:rPr lang="en-US" sz="1100" dirty="0">
                <a:solidFill>
                  <a:srgbClr val="E5E0DF"/>
                </a:solidFill>
                <a:latin typeface="Barlow" pitchFamily="34" charset="0"/>
                <a:ea typeface="Barlow" pitchFamily="34" charset="-122"/>
                <a:cs typeface="Barlow" pitchFamily="34" charset="-120"/>
              </a:rPr>
              <a:t>Months 10–11: Testing, user studies, performance tuning</a:t>
            </a:r>
            <a:endParaRPr lang="en-US" sz="1100" dirty="0"/>
          </a:p>
          <a:p>
            <a:pPr algn="l" marL="223520" indent="-223520">
              <a:lnSpc>
                <a:spcPct val="112000"/>
              </a:lnSpc>
              <a:buSzPct val="100000"/>
              <a:buFont typeface="+mj-lt"/>
              <a:buAutoNum type="arabicPeriod" startAt="6"/>
            </a:pPr>
            <a:r>
              <a:rPr lang="en-US" sz="1100" dirty="0">
                <a:solidFill>
                  <a:srgbClr val="E5E0DF"/>
                </a:solidFill>
                <a:latin typeface="Barlow" pitchFamily="34" charset="0"/>
                <a:ea typeface="Barlow" pitchFamily="34" charset="-122"/>
                <a:cs typeface="Barlow" pitchFamily="34" charset="-120"/>
              </a:rPr>
              <a:t>Month 12: Final results, thesis writing, submission</a:t>
            </a:r>
            <a:endParaRPr lang="en-US" sz="1100" dirty="0"/>
          </a:p>
        </p:txBody>
      </p:sp>
      <p:pic>
        <p:nvPicPr>
          <p:cNvPr id="5" name="Image 0" descr="preencoded.png">    </p:cNvPr>
          <p:cNvPicPr>
            <a:picLocks noChangeAspect="1"/>
          </p:cNvPicPr>
          <p:nvPr/>
        </p:nvPicPr>
        <p:blipFill>
          <a:blip r:embed="rId1"/>
          <a:stretch>
            <a:fillRect/>
          </a:stretch>
        </p:blipFill>
        <p:spPr>
          <a:xfrm>
            <a:off x="6276917" y="1237456"/>
            <a:ext cx="4927576" cy="49276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4200" y="874713"/>
            <a:ext cx="10723294" cy="553641"/>
          </a:xfrm>
          <a:prstGeom prst="rect">
            <a:avLst/>
          </a:prstGeom>
          <a:noFill/>
          <a:ln/>
        </p:spPr>
        <p:txBody>
          <a:bodyPr wrap="none" lIns="0" tIns="0" rIns="0" bIns="0" rtlCol="0" anchor="t"/>
          <a:lstStyle/>
          <a:p>
            <a:pPr algn="l" indent="0" marL="0">
              <a:lnSpc>
                <a:spcPct val="104000"/>
              </a:lnSpc>
              <a:buNone/>
            </a:pPr>
            <a:r>
              <a:rPr lang="en-US" sz="3450" dirty="0">
                <a:solidFill>
                  <a:srgbClr val="FFFFFF"/>
                </a:solidFill>
                <a:latin typeface="Barlow Medium" pitchFamily="34" charset="0"/>
                <a:ea typeface="Barlow Medium" pitchFamily="34" charset="-122"/>
                <a:cs typeface="Barlow Medium" pitchFamily="34" charset="-120"/>
              </a:rPr>
              <a:t>References</a:t>
            </a:r>
            <a:endParaRPr lang="en-US" sz="3450" dirty="0"/>
          </a:p>
        </p:txBody>
      </p:sp>
      <p:sp>
        <p:nvSpPr>
          <p:cNvPr id="3" name="Text 1"/>
          <p:cNvSpPr/>
          <p:nvPr/>
        </p:nvSpPr>
        <p:spPr>
          <a:xfrm>
            <a:off x="734200" y="1806972"/>
            <a:ext cx="10723294" cy="932855"/>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E5E0DF"/>
                </a:solidFill>
                <a:latin typeface="Barlow" pitchFamily="34" charset="0"/>
                <a:ea typeface="Barlow" pitchFamily="34" charset="-122"/>
                <a:cs typeface="Barlow" pitchFamily="34" charset="-120"/>
              </a:rPr>
              <a:t> Per Superior University instructions, use IEEE citation style. The uploaded SafeLabel AI PPTX was not readable by the extractor, so verifiable bibliographic entries were not available. Insert project-specific IEEE references here when the source documents are accessible. </a:t>
            </a:r>
            <a:endParaRPr lang="en-US" sz="1550" dirty="0"/>
          </a:p>
        </p:txBody>
      </p:sp>
      <p:sp>
        <p:nvSpPr>
          <p:cNvPr id="4" name="Shape 2"/>
          <p:cNvSpPr/>
          <p:nvPr/>
        </p:nvSpPr>
        <p:spPr>
          <a:xfrm>
            <a:off x="734200" y="2952750"/>
            <a:ext cx="10723294" cy="1736328"/>
          </a:xfrm>
          <a:prstGeom prst="roundRect">
            <a:avLst>
              <a:gd name="adj" fmla="val 4821"/>
            </a:avLst>
          </a:prstGeom>
          <a:noFill/>
          <a:ln w="6350">
            <a:solidFill>
              <a:srgbClr val="FFFFFF">
                <a:alpha val="24000"/>
              </a:srgbClr>
            </a:solidFill>
            <a:prstDash val="solid"/>
          </a:ln>
        </p:spPr>
      </p:sp>
      <p:sp>
        <p:nvSpPr>
          <p:cNvPr id="5" name="Shape 3"/>
          <p:cNvSpPr/>
          <p:nvPr/>
        </p:nvSpPr>
        <p:spPr>
          <a:xfrm>
            <a:off x="740550" y="2959100"/>
            <a:ext cx="10710595" cy="550862"/>
          </a:xfrm>
          <a:prstGeom prst="rect">
            <a:avLst/>
          </a:prstGeom>
          <a:solidFill>
            <a:srgbClr val="FFFFFF">
              <a:alpha val="4000"/>
            </a:srgbClr>
          </a:solidFill>
          <a:ln/>
        </p:spPr>
      </p:sp>
      <p:sp>
        <p:nvSpPr>
          <p:cNvPr id="6" name="Text 4"/>
          <p:cNvSpPr/>
          <p:nvPr/>
        </p:nvSpPr>
        <p:spPr>
          <a:xfrm>
            <a:off x="939876" y="3079055"/>
            <a:ext cx="6634294" cy="310952"/>
          </a:xfrm>
          <a:prstGeom prst="rect">
            <a:avLst/>
          </a:prstGeom>
          <a:noFill/>
          <a:ln/>
        </p:spPr>
        <p:txBody>
          <a:bodyPr wrap="none" lIns="0" tIns="0" rIns="0" bIns="0" rtlCol="0" anchor="t"/>
          <a:lstStyle/>
          <a:p>
            <a:pPr algn="l" indent="0" marL="0">
              <a:lnSpc>
                <a:spcPct val="130000"/>
              </a:lnSpc>
              <a:buNone/>
            </a:pPr>
            <a:r>
              <a:rPr lang="en-US" sz="1550" b="1" dirty="0">
                <a:solidFill>
                  <a:srgbClr val="E5E0DF"/>
                </a:solidFill>
                <a:latin typeface="Barlow Bold" pitchFamily="34" charset="0"/>
                <a:ea typeface="Barlow Bold" pitchFamily="34" charset="-122"/>
                <a:cs typeface="Barlow Bold" pitchFamily="34" charset="-120"/>
              </a:rPr>
              <a:t>Reference (IEEE)</a:t>
            </a:r>
            <a:endParaRPr lang="en-US" sz="1550" dirty="0"/>
          </a:p>
        </p:txBody>
      </p:sp>
      <p:sp>
        <p:nvSpPr>
          <p:cNvPr id="7" name="Text 5"/>
          <p:cNvSpPr/>
          <p:nvPr/>
        </p:nvSpPr>
        <p:spPr>
          <a:xfrm>
            <a:off x="7369388" y="3079055"/>
            <a:ext cx="4492116" cy="310952"/>
          </a:xfrm>
          <a:prstGeom prst="rect">
            <a:avLst/>
          </a:prstGeom>
          <a:noFill/>
          <a:ln/>
        </p:spPr>
        <p:txBody>
          <a:bodyPr wrap="none" lIns="0" tIns="0" rIns="0" bIns="0" rtlCol="0" anchor="t"/>
          <a:lstStyle/>
          <a:p>
            <a:pPr algn="l" indent="0" marL="0">
              <a:lnSpc>
                <a:spcPct val="130000"/>
              </a:lnSpc>
              <a:buNone/>
            </a:pPr>
            <a:r>
              <a:rPr lang="en-US" sz="1550" b="1" dirty="0">
                <a:solidFill>
                  <a:srgbClr val="E5E0DF"/>
                </a:solidFill>
                <a:latin typeface="Barlow Bold" pitchFamily="34" charset="0"/>
                <a:ea typeface="Barlow Bold" pitchFamily="34" charset="-122"/>
                <a:cs typeface="Barlow Bold" pitchFamily="34" charset="-120"/>
              </a:rPr>
              <a:t>Notes</a:t>
            </a:r>
            <a:endParaRPr lang="en-US" sz="1550" dirty="0"/>
          </a:p>
        </p:txBody>
      </p:sp>
      <p:sp>
        <p:nvSpPr>
          <p:cNvPr id="8" name="Shape 6"/>
          <p:cNvSpPr/>
          <p:nvPr/>
        </p:nvSpPr>
        <p:spPr>
          <a:xfrm>
            <a:off x="740550" y="3509963"/>
            <a:ext cx="10710595" cy="1172766"/>
          </a:xfrm>
          <a:prstGeom prst="rect">
            <a:avLst/>
          </a:prstGeom>
          <a:solidFill>
            <a:srgbClr val="000000">
              <a:alpha val="4000"/>
            </a:srgbClr>
          </a:solidFill>
          <a:ln/>
        </p:spPr>
      </p:sp>
      <p:sp>
        <p:nvSpPr>
          <p:cNvPr id="9" name="Text 7"/>
          <p:cNvSpPr/>
          <p:nvPr/>
        </p:nvSpPr>
        <p:spPr>
          <a:xfrm>
            <a:off x="939876" y="3629918"/>
            <a:ext cx="6634294" cy="310952"/>
          </a:xfrm>
          <a:prstGeom prst="rect">
            <a:avLst/>
          </a:prstGeom>
          <a:noFill/>
          <a:ln/>
        </p:spPr>
        <p:txBody>
          <a:bodyPr wrap="none" lIns="0" tIns="0" rIns="0" bIns="0" rtlCol="0" anchor="t"/>
          <a:lstStyle/>
          <a:p>
            <a:pPr algn="l" indent="0" marL="0">
              <a:lnSpc>
                <a:spcPct val="130000"/>
              </a:lnSpc>
              <a:buNone/>
            </a:pPr>
            <a:r>
              <a:rPr lang="en-US" sz="1550" dirty="0">
                <a:solidFill>
                  <a:srgbClr val="E5E0DF"/>
                </a:solidFill>
                <a:latin typeface="Barlow" pitchFamily="34" charset="0"/>
                <a:ea typeface="Barlow" pitchFamily="34" charset="-122"/>
                <a:cs typeface="Barlow" pitchFamily="34" charset="-120"/>
              </a:rPr>
              <a:t>—</a:t>
            </a:r>
            <a:endParaRPr lang="en-US" sz="1550" dirty="0"/>
          </a:p>
        </p:txBody>
      </p:sp>
      <p:sp>
        <p:nvSpPr>
          <p:cNvPr id="10" name="Text 8"/>
          <p:cNvSpPr/>
          <p:nvPr/>
        </p:nvSpPr>
        <p:spPr>
          <a:xfrm>
            <a:off x="7369388" y="3629918"/>
            <a:ext cx="3882531" cy="932855"/>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E5E0DF"/>
                </a:solidFill>
                <a:latin typeface="Barlow" pitchFamily="34" charset="0"/>
                <a:ea typeface="Barlow" pitchFamily="34" charset="-122"/>
                <a:cs typeface="Barlow" pitchFamily="34" charset="-120"/>
              </a:rPr>
              <a:t>Reference list not recoverable from uploaded project files. Add full IEEE entries before submission.</a:t>
            </a:r>
            <a:endParaRPr lang="en-US" sz="1550" dirty="0"/>
          </a:p>
        </p:txBody>
      </p:sp>
      <p:sp>
        <p:nvSpPr>
          <p:cNvPr id="11" name="Shape 9"/>
          <p:cNvSpPr/>
          <p:nvPr/>
        </p:nvSpPr>
        <p:spPr>
          <a:xfrm>
            <a:off x="734200" y="4902002"/>
            <a:ext cx="10723294" cy="1081187"/>
          </a:xfrm>
          <a:prstGeom prst="roundRect">
            <a:avLst>
              <a:gd name="adj" fmla="val 7742"/>
            </a:avLst>
          </a:prstGeom>
          <a:solidFill>
            <a:srgbClr val="790709"/>
          </a:solidFill>
          <a:ln/>
        </p:spPr>
      </p:sp>
      <p:pic>
        <p:nvPicPr>
          <p:cNvPr id="12" name="Image 0" descr="preencoded.png">    </p:cNvPr>
          <p:cNvPicPr>
            <a:picLocks noChangeAspect="1"/>
          </p:cNvPicPr>
          <p:nvPr/>
        </p:nvPicPr>
        <p:blipFill>
          <a:blip r:embed="rId1"/>
          <a:stretch>
            <a:fillRect/>
          </a:stretch>
        </p:blipFill>
        <p:spPr>
          <a:xfrm>
            <a:off x="933427" y="5176341"/>
            <a:ext cx="249132" cy="199231"/>
          </a:xfrm>
          <a:prstGeom prst="rect">
            <a:avLst/>
          </a:prstGeom>
        </p:spPr>
      </p:pic>
      <p:sp>
        <p:nvSpPr>
          <p:cNvPr id="13" name="Text 10"/>
          <p:cNvSpPr/>
          <p:nvPr/>
        </p:nvSpPr>
        <p:spPr>
          <a:xfrm>
            <a:off x="1381785" y="5141119"/>
            <a:ext cx="9876483" cy="621903"/>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FFFFFF"/>
                </a:solidFill>
                <a:latin typeface="Barlow" pitchFamily="34" charset="0"/>
                <a:ea typeface="Barlow" pitchFamily="34" charset="-122"/>
                <a:cs typeface="Barlow" pitchFamily="34" charset="-120"/>
              </a:rPr>
              <a:t>Mandatory: Do not invent citations. Populate this table with IEEE-formatted references once full source PDFs or metadata are available.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2026-08-17T21:51:03Z</dcterms:created>
  <dcterms:modified xsi:type="dcterms:W3CDTF">2026-08-17T21:51:03Z</dcterms:modified>
</cp:coreProperties>
</file>